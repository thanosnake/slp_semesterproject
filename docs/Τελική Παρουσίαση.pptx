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ΕΘΝΙΚΟ ΜΕΤΣΟΒΙΟ ΠΟΛΥΤΕΧΝΕΙΟ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2E6"/>
                </a:solidFill>
                <a:latin typeface="Calibri"/>
              </a:rPr>
              <a:t>Σχολή Ηλεκτρολόγων Μηχανικών και Μηχανικών Υπολογιστών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2E6"/>
                </a:solidFill>
                <a:latin typeface="Calibri"/>
              </a:rPr>
              <a:t>Εξαμηνιαία Εργασία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10698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Four Principles for Physically
Interpretable World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720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9A227"/>
                </a:solidFill>
                <a:latin typeface="Calibri"/>
              </a:rPr>
              <a:t>Αναπαραγωγή, αξιολόγηση και πιθανές επεκτάσεις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9834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C8D2E6"/>
                </a:solidFill>
                <a:latin typeface="Calibri"/>
              </a:rPr>
              <a:t>Τελική Παρουσίαση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692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Πλουμής Φίλιππος,  Ρήγας Αθανάσιος,  Μπακογιώργος Ηλίας,  Φειδάκης Αθανάσιος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080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D2E6"/>
                </a:solidFill>
                <a:latin typeface="Calibri"/>
              </a:rPr>
              <a:t>Αθήνα  ·  Ιούνιος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ΕΙΣΑΓΩΓΗ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Physically Interpretable World Models (PIWM)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63D"/>
                </a:solidFill>
                <a:latin typeface="Calibri"/>
              </a:rPr>
              <a:t>Γιατί χρειαζόμαστε λανθάνοντα χώρο με ρητό φυσικό νόημα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0972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244F"/>
                </a:solidFill>
                <a:latin typeface="Calibri"/>
              </a:rPr>
              <a:t>2 / 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" y="1828800"/>
            <a:ext cx="5532120" cy="429768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4632" y="1828800"/>
            <a:ext cx="55321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883664"/>
            <a:ext cx="5166359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Το πρόβλημα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423160"/>
            <a:ext cx="50749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World Models: </a:t>
            </a:r>
            <a:r>
              <a:rPr sz="1250" b="0">
                <a:solidFill>
                  <a:srgbClr val="33363D"/>
                </a:solidFill>
                <a:latin typeface="Calibri"/>
              </a:rPr>
              <a:t>παραγωγικά μοντέλα που μαθαίνουν να προβλέπουν την εξέλιξη ενός περιβάλλοντος σε συμπιεσμένο λανθάνοντα χώρο.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Σημασία: </a:t>
            </a:r>
            <a:r>
              <a:rPr sz="1250" b="0">
                <a:solidFill>
                  <a:srgbClr val="33363D"/>
                </a:solidFill>
                <a:latin typeface="Calibri"/>
              </a:rPr>
              <a:t>κρίσιμα για σχεδιασμό &amp; αυτόνομη πλοήγηση μέσω «ονείρου» (dreaming) του μέλλοντος.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Black-box latent: </a:t>
            </a:r>
            <a:r>
              <a:rPr sz="1250" b="0">
                <a:solidFill>
                  <a:srgbClr val="33363D"/>
                </a:solidFill>
                <a:latin typeface="Calibri"/>
              </a:rPr>
              <a:t>οι κλασικές αναπαραστάσεις είναι αδιαφανείς — καμία διάσταση δεν αντιστοιχεί σε φυσικό μέγεθος.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Συνέπεια: </a:t>
            </a:r>
            <a:r>
              <a:rPr sz="1250" b="0">
                <a:solidFill>
                  <a:srgbClr val="33363D"/>
                </a:solidFill>
                <a:latin typeface="Calibri"/>
              </a:rPr>
              <a:t>δύσκολος έλεγχος, χαμηλή αξιοπιστία, κακή γενίκευση σε θόρυβο/OOD.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828800"/>
            <a:ext cx="5532120" cy="429768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828800"/>
            <a:ext cx="55321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83664"/>
            <a:ext cx="5166359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Η προσέγγιση του paper &amp; ο στόχος μας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23160"/>
            <a:ext cx="50749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PIWM: </a:t>
            </a:r>
            <a:r>
              <a:rPr sz="1250" b="0">
                <a:solidFill>
                  <a:srgbClr val="33363D"/>
                </a:solidFill>
                <a:latin typeface="Calibri"/>
              </a:rPr>
              <a:t>κάθε διάσταση του latent αποκτά ρητό φυσικό νόημα (θέση, ταχύτητα, γωνία…).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4 αρχές σχεδίασης </a:t>
            </a:r>
            <a:r>
              <a:rPr sz="1250" b="0">
                <a:solidFill>
                  <a:srgbClr val="33363D"/>
                </a:solidFill>
                <a:latin typeface="Calibri"/>
              </a:rPr>
              <a:t>που οργανώνουν, ευθυγραμμίζουν και επιβλέπουν τον λανθάνοντα χώρο.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Στόχος εργασίας: </a:t>
            </a:r>
            <a:r>
              <a:rPr sz="1250" b="0">
                <a:solidFill>
                  <a:srgbClr val="33363D"/>
                </a:solidFill>
                <a:latin typeface="Calibri"/>
              </a:rPr>
              <a:t>πιστή αναπαραγωγή των 4 αρχών σε CartPole &amp; LunarLander.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Επιπλέον: </a:t>
            </a:r>
            <a:r>
              <a:rPr sz="1250" b="0">
                <a:solidFill>
                  <a:srgbClr val="33363D"/>
                </a:solidFill>
                <a:latin typeface="Calibri"/>
              </a:rPr>
              <a:t>κριτική αξιολόγηση ανά αρχή/dataset και καινοτόμες επεκτάσεις.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ΤΟ ΑΡΘΡΟ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Οι τέσσερις αρχές — σύνοψη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63D"/>
                </a:solidFill>
                <a:latin typeface="Calibri"/>
              </a:rPr>
              <a:t>Τέσσερις αρχές σχεδίασης που κάνουν ένα world model φυσικά ερμηνεύσιμο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0972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244F"/>
                </a:solidFill>
                <a:latin typeface="Calibri"/>
              </a:rPr>
              <a:t>3 / 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" y="1828800"/>
            <a:ext cx="2670048" cy="416052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4632" y="1828800"/>
            <a:ext cx="2670048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883664"/>
            <a:ext cx="2304288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Αρχή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331720"/>
            <a:ext cx="2304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C9A227"/>
                </a:solidFill>
                <a:latin typeface="Calibri"/>
              </a:rPr>
              <a:t>Functionally organized latent 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2743200"/>
            <a:ext cx="2340864" cy="3154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7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•  </a:t>
            </a:r>
            <a:r>
              <a:rPr sz="1100" b="0">
                <a:solidFill>
                  <a:srgbClr val="33363D"/>
                </a:solidFill>
                <a:latin typeface="Calibri"/>
              </a:rPr>
              <a:t>Χωρισμός του encoder σε ξεχωριστούς κλάδους.</a:t>
            </a:r>
          </a:p>
          <a:p>
            <a:pPr>
              <a:lnSpc>
                <a:spcPct val="103000"/>
              </a:lnSpc>
              <a:spcAft>
                <a:spcPts val="7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•  </a:t>
            </a:r>
            <a:r>
              <a:rPr sz="1100" b="0">
                <a:solidFill>
                  <a:srgbClr val="33363D"/>
                </a:solidFill>
                <a:latin typeface="Calibri"/>
              </a:rPr>
              <a:t>Κάθε κλάδος κωδικοποιεί δικό του υποσύνολο μεγεθών.</a:t>
            </a:r>
          </a:p>
          <a:p>
            <a:pPr>
              <a:lnSpc>
                <a:spcPct val="103000"/>
              </a:lnSpc>
              <a:spcAft>
                <a:spcPts val="7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•  </a:t>
            </a:r>
            <a:r>
              <a:rPr sz="1100" b="0">
                <a:solidFill>
                  <a:srgbClr val="33363D"/>
                </a:solidFill>
                <a:latin typeface="Calibri"/>
              </a:rPr>
              <a:t>Αποσύζευξη φυσικής κατάστασης από visual style.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73552" y="1828800"/>
            <a:ext cx="2670048" cy="416052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73552" y="1828800"/>
            <a:ext cx="2670048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6432" y="1883664"/>
            <a:ext cx="2304288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Αρχή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2331720"/>
            <a:ext cx="2304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C9A227"/>
                </a:solidFill>
                <a:latin typeface="Calibri"/>
              </a:rPr>
              <a:t>Aligned invariance &amp; equivariance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38144" y="2743200"/>
            <a:ext cx="2340864" cy="3154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7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•  </a:t>
            </a:r>
            <a:r>
              <a:rPr sz="1100" b="0">
                <a:solidFill>
                  <a:srgbClr val="33363D"/>
                </a:solidFill>
                <a:latin typeface="Calibri"/>
              </a:rPr>
              <a:t>Invariance: φωτισμός/χρώμα δεν αλλάζουν το latent.</a:t>
            </a:r>
          </a:p>
          <a:p>
            <a:pPr>
              <a:lnSpc>
                <a:spcPct val="103000"/>
              </a:lnSpc>
              <a:spcAft>
                <a:spcPts val="7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•  </a:t>
            </a:r>
            <a:r>
              <a:rPr sz="1100" b="0">
                <a:solidFill>
                  <a:srgbClr val="33363D"/>
                </a:solidFill>
                <a:latin typeface="Calibri"/>
              </a:rPr>
              <a:t>Equivariance: μετατόπιση/περιστροφή → προβλέψιμη αλλαγή.</a:t>
            </a:r>
          </a:p>
          <a:p>
            <a:pPr>
              <a:lnSpc>
                <a:spcPct val="103000"/>
              </a:lnSpc>
              <a:spcAft>
                <a:spcPts val="7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•  </a:t>
            </a:r>
            <a:r>
              <a:rPr sz="1100" b="0">
                <a:solidFill>
                  <a:srgbClr val="33363D"/>
                </a:solidFill>
                <a:latin typeface="Calibri"/>
              </a:rPr>
              <a:t>Επιβολή μέσω μετασχηματισμών στην είσοδο.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62472" y="1828800"/>
            <a:ext cx="2670048" cy="416052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62472" y="1828800"/>
            <a:ext cx="2670048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1883664"/>
            <a:ext cx="2304288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Αρχή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2331720"/>
            <a:ext cx="2304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C9A227"/>
                </a:solidFill>
                <a:latin typeface="Calibri"/>
              </a:rPr>
              <a:t>Multi-level / multi-strength supervision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7064" y="2743200"/>
            <a:ext cx="2340864" cy="3154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7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•  </a:t>
            </a:r>
            <a:r>
              <a:rPr sz="1100" b="0">
                <a:solidFill>
                  <a:srgbClr val="33363D"/>
                </a:solidFill>
                <a:latin typeface="Calibri"/>
              </a:rPr>
              <a:t>Πλήρης, ασθενής (weak) και ημι-επίβλεψη (semi).</a:t>
            </a:r>
          </a:p>
          <a:p>
            <a:pPr>
              <a:lnSpc>
                <a:spcPct val="103000"/>
              </a:lnSpc>
              <a:spcAft>
                <a:spcPts val="7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•  </a:t>
            </a:r>
            <a:r>
              <a:rPr sz="1100" b="0">
                <a:solidFill>
                  <a:srgbClr val="33363D"/>
                </a:solidFill>
                <a:latin typeface="Calibri"/>
              </a:rPr>
              <a:t>Γνώση μόνο εύρους τιμών ή εκτιμώμενης δυναμικής.</a:t>
            </a:r>
          </a:p>
          <a:p>
            <a:pPr>
              <a:lnSpc>
                <a:spcPct val="103000"/>
              </a:lnSpc>
              <a:spcAft>
                <a:spcPts val="7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•  </a:t>
            </a:r>
            <a:r>
              <a:rPr sz="1100" b="0">
                <a:solidFill>
                  <a:srgbClr val="33363D"/>
                </a:solidFill>
                <a:latin typeface="Calibri"/>
              </a:rPr>
              <a:t>Έλλειψη labels για ταχύτητες.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51391" y="1828800"/>
            <a:ext cx="2670048" cy="416052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51391" y="1828800"/>
            <a:ext cx="2670048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34271" y="1883664"/>
            <a:ext cx="2304288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Αρχή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34271" y="2331720"/>
            <a:ext cx="2304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C9A227"/>
                </a:solidFill>
                <a:latin typeface="Calibri"/>
              </a:rPr>
              <a:t>Output-space partitioning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5983" y="2743200"/>
            <a:ext cx="2340864" cy="3154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7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•  </a:t>
            </a:r>
            <a:r>
              <a:rPr sz="1100" b="0">
                <a:solidFill>
                  <a:srgbClr val="33363D"/>
                </a:solidFill>
                <a:latin typeface="Calibri"/>
              </a:rPr>
              <a:t>Πολλαπλοί μικροί decoders (ανά αντικείμενο).</a:t>
            </a:r>
          </a:p>
          <a:p>
            <a:pPr>
              <a:lnSpc>
                <a:spcPct val="103000"/>
              </a:lnSpc>
              <a:spcAft>
                <a:spcPts val="7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•  </a:t>
            </a:r>
            <a:r>
              <a:rPr sz="1100" b="0">
                <a:solidFill>
                  <a:srgbClr val="33363D"/>
                </a:solidFill>
                <a:latin typeface="Calibri"/>
              </a:rPr>
              <a:t>Κατάτμηση (segmentation) της παραγόμενης εικόνας.</a:t>
            </a:r>
          </a:p>
          <a:p>
            <a:pPr>
              <a:lnSpc>
                <a:spcPct val="103000"/>
              </a:lnSpc>
              <a:spcAft>
                <a:spcPts val="7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•  </a:t>
            </a:r>
            <a:r>
              <a:rPr sz="1100" b="0">
                <a:solidFill>
                  <a:srgbClr val="33363D"/>
                </a:solidFill>
                <a:latin typeface="Calibri"/>
              </a:rPr>
              <a:t>Σύνθεση (overlay) στο πλήρες frame.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ΜΕΘΟΔΟΛΟΓΙΑ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Dataset Generation &amp; Data Collection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63D"/>
                </a:solidFill>
                <a:latin typeface="Calibri"/>
              </a:rPr>
              <a:t>Ασθενής ψευδο-τυχαίος έλεγχος για ομοιόμορφη κάλυψη του state space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0972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244F"/>
                </a:solidFill>
                <a:latin typeface="Calibri"/>
              </a:rPr>
              <a:t>4 / 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" y="1828800"/>
            <a:ext cx="5532120" cy="38862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4632" y="1828800"/>
            <a:ext cx="55321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883664"/>
            <a:ext cx="5166359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CartPole — 4 βαθμοί ελευθερίας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423160"/>
            <a:ext cx="50749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State: </a:t>
            </a:r>
            <a:r>
              <a:rPr sz="1250" b="0">
                <a:solidFill>
                  <a:srgbClr val="33363D"/>
                </a:solidFill>
                <a:latin typeface="Calibri"/>
              </a:rPr>
              <a:t>[x, ẋ, θ, θ̇]  ·  2 διακριτές ενέργειες.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Έλεγχος: </a:t>
            </a:r>
            <a:r>
              <a:rPr sz="1250" b="0">
                <a:solidFill>
                  <a:srgbClr val="33363D"/>
                </a:solidFill>
                <a:latin typeface="Calibri"/>
              </a:rPr>
              <a:t>PD ελεγκτής στη γωνία (Kθ=12, Kḋ=2) + ε-greedy (ε=0.5).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Όγκος: </a:t>
            </a:r>
            <a:r>
              <a:rPr sz="1250" b="0">
                <a:solidFill>
                  <a:srgbClr val="33363D"/>
                </a:solidFill>
                <a:latin typeface="Calibri"/>
              </a:rPr>
              <a:t>5000 επεισόδια × ≤200 βήματα, frames 80×120.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Θόρυβος state: </a:t>
            </a:r>
            <a:r>
              <a:rPr sz="1250" b="0">
                <a:solidFill>
                  <a:srgbClr val="33363D"/>
                </a:solidFill>
                <a:latin typeface="Calibri"/>
              </a:rPr>
              <a:t>noisy_states_2/5/10 σε x, θ → weak supervision.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828800"/>
            <a:ext cx="5532120" cy="38862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828800"/>
            <a:ext cx="55321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83664"/>
            <a:ext cx="5166359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LunarLander — 8 βαθμοί ελευθερίας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23160"/>
            <a:ext cx="50749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State: </a:t>
            </a:r>
            <a:r>
              <a:rPr sz="1250" b="0">
                <a:solidFill>
                  <a:srgbClr val="33363D"/>
                </a:solidFill>
                <a:latin typeface="Calibri"/>
              </a:rPr>
              <a:t>[x, y, vx, vy, θ, ω, leg1, leg2]  ·  4 ενέργειες.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Έλεγχος: </a:t>
            </a:r>
            <a:r>
              <a:rPr sz="1250" b="0">
                <a:solidFill>
                  <a:srgbClr val="33363D"/>
                </a:solidFill>
                <a:latin typeface="Calibri"/>
              </a:rPr>
              <a:t>PD-like heuristic + ε-greedy (ε=0.2 — αποφυγή crash).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Όγκος: </a:t>
            </a:r>
            <a:r>
              <a:rPr sz="1250" b="0">
                <a:solidFill>
                  <a:srgbClr val="33363D"/>
                </a:solidFill>
                <a:latin typeface="Calibri"/>
              </a:rPr>
              <a:t>4000 επεισόδια × ≤400 βήματα (πιο σύνθετη 8D κατάσταση).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Κοινά: </a:t>
            </a:r>
            <a:r>
              <a:rPr sz="1250" b="0">
                <a:solidFill>
                  <a:srgbClr val="33363D"/>
                </a:solidFill>
                <a:latin typeface="Calibri"/>
              </a:rPr>
              <a:t>split 80/10/10, norm_stats μόνο από train (no leakage).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" y="5852160"/>
            <a:ext cx="11219688" cy="502920"/>
          </a:xfrm>
          <a:prstGeom prst="rect">
            <a:avLst/>
          </a:prstGeom>
          <a:solidFill>
            <a:srgbClr val="EC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5852160"/>
            <a:ext cx="1089050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244F"/>
                </a:solidFill>
                <a:latin typeface="Calibri"/>
              </a:rPr>
              <a:t>Σκοπός: </a:t>
            </a:r>
            <a:r>
              <a:rPr sz="1200" b="0">
                <a:solidFill>
                  <a:srgbClr val="33363D"/>
                </a:solidFill>
                <a:latin typeface="Calibri"/>
              </a:rPr>
              <a:t>ομοιόμορφη κάλυψη του state space διατηρώντας λογικές τροχιές — αποφυγή narrow expert behavior και κατάρρευσης από καθαρά τυχαίες ενέργειες.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ΑΞΙΟΛΟΓΗΣΗ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Μετρικές Αξιολόγησης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63D"/>
                </a:solidFill>
                <a:latin typeface="Calibri"/>
              </a:rPr>
              <a:t>Πώς μετράμε εμπειρικά την «ερμηνευσιμότητα» και την προβλεπτική ικανότητα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0972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244F"/>
                </a:solidFill>
                <a:latin typeface="Calibri"/>
              </a:rPr>
              <a:t>5 / 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" y="1828800"/>
            <a:ext cx="5532120" cy="429768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4632" y="1828800"/>
            <a:ext cx="55321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883664"/>
            <a:ext cx="5166359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Ερμηνευσιμότητα κωδικοποίησης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423160"/>
            <a:ext cx="50749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Encoder vs GT: </a:t>
            </a:r>
            <a:r>
              <a:rPr sz="1250" b="0">
                <a:solidFill>
                  <a:srgbClr val="33363D"/>
                </a:solidFill>
                <a:latin typeface="Calibri"/>
              </a:rPr>
              <a:t>σύγκριση mu[:N] με τα πραγματικά φυσικά states.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RMSE / MAE </a:t>
            </a:r>
            <a:r>
              <a:rPr sz="1250" b="0">
                <a:solidFill>
                  <a:srgbClr val="33363D"/>
                </a:solidFill>
                <a:latin typeface="Calibri"/>
              </a:rPr>
              <a:t>σε φυσικές μονάδες (de-standardized).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R²  &amp;  Pearson r </a:t>
            </a:r>
            <a:r>
              <a:rPr sz="1250" b="0">
                <a:solidFill>
                  <a:srgbClr val="33363D"/>
                </a:solidFill>
                <a:latin typeface="Calibri"/>
              </a:rPr>
              <a:t>ανά διάσταση → πόσο «καθαρά» χαρτογραφείται κάθε μέγεθος.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Scatter &amp; time-series </a:t>
            </a:r>
            <a:r>
              <a:rPr sz="1250" b="0">
                <a:solidFill>
                  <a:srgbClr val="33363D"/>
                </a:solidFill>
                <a:latin typeface="Calibri"/>
              </a:rPr>
              <a:t>GT vs encoded → tracking, bias, υστέρηση.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828800"/>
            <a:ext cx="5532120" cy="429768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828800"/>
            <a:ext cx="55321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83664"/>
            <a:ext cx="5166359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Πρόβλεψη, ανακατασκευή &amp; μέγεθος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23160"/>
            <a:ext cx="50749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State-MSE ανά horizon: </a:t>
            </a:r>
            <a:r>
              <a:rPr sz="1250" b="0">
                <a:solidFill>
                  <a:srgbClr val="33363D"/>
                </a:solidFill>
                <a:latin typeface="Calibri"/>
              </a:rPr>
              <a:t>LSTM rollout vs GT (standardized).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Median + IQR </a:t>
            </a:r>
            <a:r>
              <a:rPr sz="1250" b="0">
                <a:solidFill>
                  <a:srgbClr val="33363D"/>
                </a:solidFill>
                <a:latin typeface="Calibri"/>
              </a:rPr>
              <a:t>πάνω σε πολλά test windows (robust στατιστική).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Paired Δ + 95% bootstrap CI: </a:t>
            </a:r>
            <a:r>
              <a:rPr sz="1250" b="0">
                <a:solidFill>
                  <a:srgbClr val="33363D"/>
                </a:solidFill>
                <a:latin typeface="Calibri"/>
              </a:rPr>
              <a:t>στατιστικά σημαντική διαφορά vs baseline.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Reconstruction: </a:t>
            </a:r>
            <a:r>
              <a:rPr sz="1250" b="0">
                <a:solidFill>
                  <a:srgbClr val="33363D"/>
                </a:solidFill>
                <a:latin typeface="Calibri"/>
              </a:rPr>
              <a:t>MSE &amp; SSIM.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Model size: </a:t>
            </a:r>
            <a:r>
              <a:rPr sz="1250" b="0">
                <a:solidFill>
                  <a:srgbClr val="33363D"/>
                </a:solidFill>
                <a:latin typeface="Calibri"/>
              </a:rPr>
              <a:t>#παράμετροι (decoder &amp; total).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ΑΡΧΙΤΕΚΤΟΝΙΚΗ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Αρχιτεκτονικές Επιλογές &amp; Baseline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63D"/>
                </a:solidFill>
                <a:latin typeface="Calibri"/>
              </a:rPr>
              <a:t>Κοινός κορμός VAE + LSTM για όλες τις αρχές (fair comparison)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0972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244F"/>
                </a:solidFill>
                <a:latin typeface="Calibri"/>
              </a:rPr>
              <a:t>6 / 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" y="1828800"/>
            <a:ext cx="3703320" cy="429768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4632" y="1828800"/>
            <a:ext cx="37033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883664"/>
            <a:ext cx="33375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VAE — Perception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37744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50" b="1">
                <a:solidFill>
                  <a:srgbClr val="C9A227"/>
                </a:solidFill>
                <a:latin typeface="Calibri"/>
              </a:rPr>
              <a:t>•  </a:t>
            </a:r>
            <a:r>
              <a:rPr sz="1150" b="0">
                <a:solidFill>
                  <a:srgbClr val="33363D"/>
                </a:solidFill>
                <a:latin typeface="Calibri"/>
              </a:rPr>
              <a:t>Είσοδος 2 διαδοχικά frames (6 κανάλια) → εκτίμηση ταχυτήτων (ill-posed με 1 frame).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50" b="1">
                <a:solidFill>
                  <a:srgbClr val="C9A227"/>
                </a:solidFill>
                <a:latin typeface="Calibri"/>
              </a:rPr>
              <a:t>•  </a:t>
            </a:r>
            <a:r>
              <a:rPr sz="1150" b="0">
                <a:solidFill>
                  <a:srgbClr val="33363D"/>
                </a:solidFill>
                <a:latin typeface="Calibri"/>
              </a:rPr>
              <a:t>Latent 64: πρώτες N dims supervised με φυσικά states.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50" b="1">
                <a:solidFill>
                  <a:srgbClr val="C9A227"/>
                </a:solidFill>
                <a:latin typeface="Calibri"/>
              </a:rPr>
              <a:t>•  </a:t>
            </a:r>
            <a:r>
              <a:rPr sz="1150" b="0">
                <a:solidFill>
                  <a:srgbClr val="33363D"/>
                </a:solidFill>
                <a:latin typeface="Calibri"/>
              </a:rPr>
              <a:t>Split-β KL: BETA_PHYS=0.01 σταθερό, beta_style annealed 0→1.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5112" y="1828800"/>
            <a:ext cx="3703320" cy="429768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1828800"/>
            <a:ext cx="37033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883664"/>
            <a:ext cx="33375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LSTM — Dynamics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37744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50" b="1">
                <a:solidFill>
                  <a:srgbClr val="C9A227"/>
                </a:solidFill>
                <a:latin typeface="Calibri"/>
              </a:rPr>
              <a:t>•  </a:t>
            </a:r>
            <a:r>
              <a:rPr sz="1150" b="0">
                <a:solidFill>
                  <a:srgbClr val="33363D"/>
                </a:solidFill>
                <a:latin typeface="Calibri"/>
              </a:rPr>
              <a:t>Residual latent predictor (zero-init → ξεκινά ως identity).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50" b="1">
                <a:solidFill>
                  <a:srgbClr val="C9A227"/>
                </a:solidFill>
                <a:latin typeface="Calibri"/>
              </a:rPr>
              <a:t>•  </a:t>
            </a:r>
            <a:r>
              <a:rPr sz="1150" b="0">
                <a:solidFill>
                  <a:srgbClr val="33363D"/>
                </a:solidFill>
                <a:latin typeface="Calibri"/>
              </a:rPr>
              <a:t>Εκπαίδευση πάνω στα encoded z (όχι GT) — ίδιο domain με inference.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50" b="1">
                <a:solidFill>
                  <a:srgbClr val="C9A227"/>
                </a:solidFill>
                <a:latin typeface="Calibri"/>
              </a:rPr>
              <a:t>•  </a:t>
            </a:r>
            <a:r>
              <a:rPr sz="1150" b="0">
                <a:solidFill>
                  <a:srgbClr val="33363D"/>
                </a:solidFill>
                <a:latin typeface="Calibri"/>
              </a:rPr>
              <a:t>Teacher forcing scheduled p: 1.0 → 0.3.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50" b="1">
                <a:solidFill>
                  <a:srgbClr val="C9A227"/>
                </a:solidFill>
                <a:latin typeface="Calibri"/>
              </a:rPr>
              <a:t>•  </a:t>
            </a:r>
            <a:r>
              <a:rPr sz="1150" b="0">
                <a:solidFill>
                  <a:srgbClr val="33363D"/>
                </a:solidFill>
                <a:latin typeface="Calibri"/>
              </a:rPr>
              <a:t>Curriculum horizon: 5 → 30 βήματα.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65592" y="1828800"/>
            <a:ext cx="3538728" cy="429768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828800"/>
            <a:ext cx="3538728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1" y="1883664"/>
            <a:ext cx="3172968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2377440"/>
            <a:ext cx="3172968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50" b="1">
                <a:solidFill>
                  <a:srgbClr val="C9A227"/>
                </a:solidFill>
                <a:latin typeface="Calibri"/>
              </a:rPr>
              <a:t>•  </a:t>
            </a:r>
            <a:r>
              <a:rPr sz="1150" b="0">
                <a:solidFill>
                  <a:srgbClr val="33363D"/>
                </a:solidFill>
                <a:latin typeface="Calibri"/>
              </a:rPr>
              <a:t>Ένας μονολιθικός encoder.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50" b="1">
                <a:solidFill>
                  <a:srgbClr val="C9A227"/>
                </a:solidFill>
                <a:latin typeface="Calibri"/>
              </a:rPr>
              <a:t>•  </a:t>
            </a:r>
            <a:r>
              <a:rPr sz="1150" b="0">
                <a:solidFill>
                  <a:srgbClr val="33363D"/>
                </a:solidFill>
                <a:latin typeface="Calibri"/>
              </a:rPr>
              <a:t>Επίβλεψη μέσω loss στα physical states.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50" b="1">
                <a:solidFill>
                  <a:srgbClr val="C9A227"/>
                </a:solidFill>
                <a:latin typeface="Calibri"/>
              </a:rPr>
              <a:t>•  </a:t>
            </a:r>
            <a:r>
              <a:rPr sz="1150" b="0">
                <a:solidFill>
                  <a:srgbClr val="33363D"/>
                </a:solidFill>
                <a:latin typeface="Calibri"/>
              </a:rPr>
              <a:t>Ενιαίο, αδιαχώριστο μονοπάτι (unstructured latent).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50" b="1">
                <a:solidFill>
                  <a:srgbClr val="C9A227"/>
                </a:solidFill>
                <a:latin typeface="Calibri"/>
              </a:rPr>
              <a:t>•  </a:t>
            </a:r>
            <a:r>
              <a:rPr sz="1150" b="0">
                <a:solidFill>
                  <a:srgbClr val="33363D"/>
                </a:solidFill>
                <a:latin typeface="Calibri"/>
              </a:rPr>
              <a:t>Σημείο αναφοράς για κάθε αρχή.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ΑΠΟΤΕΛΕΣΜΑΤΑ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Baseline — Ποιότητα κωδικοποίησης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63D"/>
                </a:solidFill>
                <a:latin typeface="Calibri"/>
              </a:rPr>
              <a:t>Encoder vs ground-truth physical states (test set)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0972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244F"/>
                </a:solidFill>
                <a:latin typeface="Calibri"/>
              </a:rPr>
              <a:t>7 /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244F"/>
                </a:solidFill>
                <a:latin typeface="Calibri"/>
              </a:rPr>
              <a:t>CartPole — mean R² = 0.944</a:t>
            </a:r>
          </a:p>
        </p:txBody>
      </p:sp>
      <p:pic>
        <p:nvPicPr>
          <p:cNvPr id="11" name="Picture 10" descr="enc_scatter_vs_g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91624"/>
            <a:ext cx="5577840" cy="145763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5029200"/>
            <a:ext cx="5486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•  </a:t>
            </a:r>
            <a:r>
              <a:rPr sz="1100" b="0">
                <a:solidFill>
                  <a:srgbClr val="33363D"/>
                </a:solidFill>
                <a:latin typeface="Calibri"/>
              </a:rPr>
              <a:t>x, θ σχεδόν τέλεια (R²≈0.99).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•  </a:t>
            </a:r>
            <a:r>
              <a:rPr sz="1100" b="0">
                <a:solidFill>
                  <a:srgbClr val="33363D"/>
                </a:solidFill>
                <a:latin typeface="Calibri"/>
              </a:rPr>
              <a:t>Ταχύτητες δυσκολότερες: θ̇ R²=0.84 — κίνητρο για τις αρχές.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83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244F"/>
                </a:solidFill>
                <a:latin typeface="Calibri"/>
              </a:rPr>
              <a:t>LunarLander — mean R² = 0.892</a:t>
            </a:r>
          </a:p>
        </p:txBody>
      </p:sp>
      <p:pic>
        <p:nvPicPr>
          <p:cNvPr id="14" name="Picture 13" descr="enc_scatter_vs_g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711" y="2148840"/>
            <a:ext cx="5373696" cy="2743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09360" y="5029200"/>
            <a:ext cx="5486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•  </a:t>
            </a:r>
            <a:r>
              <a:rPr sz="1100" b="0">
                <a:solidFill>
                  <a:srgbClr val="33363D"/>
                </a:solidFill>
                <a:latin typeface="Calibri"/>
              </a:rPr>
              <a:t>Στατικά (x, y, θ) πολύ καλά (R²&gt;0.96).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•  </a:t>
            </a:r>
            <a:r>
              <a:rPr sz="1100" b="0">
                <a:solidFill>
                  <a:srgbClr val="33363D"/>
                </a:solidFill>
                <a:latin typeface="Calibri"/>
              </a:rPr>
              <a:t>Δυσκολότερα: ω (R²=0.67), legs (R²≈0.78) — επαφή/θόρυβος.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PRINCIPLE 1 · ΥΛΟΠΟΙΗΣΗ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Functionally Organized Latent 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63D"/>
                </a:solidFill>
                <a:latin typeface="Calibri"/>
              </a:rPr>
              <a:t>Αρχιτεκτονικός διαχωρισμός του encoding σε δύο ανεξάρτητους κλάδους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0972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244F"/>
                </a:solidFill>
                <a:latin typeface="Calibri"/>
              </a:rPr>
              <a:t>8 / 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" y="1828800"/>
            <a:ext cx="5532120" cy="429768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4632" y="1828800"/>
            <a:ext cx="55321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883664"/>
            <a:ext cx="5166359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Δύο ανεξάρτητοι encoders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423160"/>
            <a:ext cx="50749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state_encoder: </a:t>
            </a:r>
            <a:r>
              <a:rPr sz="1250" b="0">
                <a:solidFill>
                  <a:srgbClr val="33363D"/>
                </a:solidFill>
                <a:latin typeface="Calibri"/>
              </a:rPr>
              <a:t>6 κανάλια (2 frames) → N φυσικές dims (βλέπει ταχύτητα).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image_encoder: </a:t>
            </a:r>
            <a:r>
              <a:rPr sz="1250" b="0">
                <a:solidFill>
                  <a:srgbClr val="33363D"/>
                </a:solidFill>
                <a:latin typeface="Calibri"/>
              </a:rPr>
              <a:t>3 κανάλια (μόνο frame_t) → style dims.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Κλειδί: </a:t>
            </a:r>
            <a:r>
              <a:rPr sz="1250" b="0">
                <a:solidFill>
                  <a:srgbClr val="33363D"/>
                </a:solidFill>
                <a:latin typeface="Calibri"/>
              </a:rPr>
              <a:t>ένα frame ΔΕΝ μπορεί να κωδικοποιήσει ταχύτητα → αρχιτεκτονική αποσύζευξη δυναμικής από visual style.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Decoder: </a:t>
            </a:r>
            <a:r>
              <a:rPr sz="1250" b="0">
                <a:solidFill>
                  <a:srgbClr val="33363D"/>
                </a:solidFill>
                <a:latin typeface="Calibri"/>
              </a:rPr>
              <a:t>κοινός, παίρνει ολόκληρο το latent.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828800"/>
            <a:ext cx="5532120" cy="429768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828800"/>
            <a:ext cx="55321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83664"/>
            <a:ext cx="5166359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Σχεδιαστικές επιλογές &amp; δυσκολίες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23160"/>
            <a:ext cx="50749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Απομόνωση: </a:t>
            </a:r>
            <a:r>
              <a:rPr sz="1250" b="0">
                <a:solidFill>
                  <a:srgbClr val="33363D"/>
                </a:solidFill>
                <a:latin typeface="Calibri"/>
              </a:rPr>
              <a:t>ξεχωριστά βάρη + ξεχωριστά mu/logvar heads ανά κλάδο.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Split-β KL: </a:t>
            </a:r>
            <a:r>
              <a:rPr sz="1250" b="0">
                <a:solidFill>
                  <a:srgbClr val="33363D"/>
                </a:solidFill>
                <a:latin typeface="Calibri"/>
              </a:rPr>
              <a:t>οι style dims καταρρέουν προς N(0,1) → καθαρά physical latents για τον LSTM.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Έλλειψη paper code: </a:t>
            </a:r>
            <a:r>
              <a:rPr sz="1250" b="0">
                <a:solidFill>
                  <a:srgbClr val="33363D"/>
                </a:solidFill>
                <a:latin typeface="Calibri"/>
              </a:rPr>
              <a:t>ανακατασκευή του «stop-gradient» πνεύματος μέσω αρχιτεκτονικού διαχωρισμού.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Ablation: </a:t>
            </a:r>
            <a:r>
              <a:rPr sz="1250" b="0">
                <a:solidFill>
                  <a:srgbClr val="33363D"/>
                </a:solidFill>
                <a:latin typeface="Calibri"/>
              </a:rPr>
              <a:t>μόνη διαφορά από baseline ο split encoder.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PRINCIPLE 1 · ΑΠΟΤΕΛΕΣΜΑΤΑ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P1 vs Baseline — Prediction MSE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63D"/>
                </a:solidFill>
                <a:latin typeface="Calibri"/>
              </a:rPr>
              <a:t>State-MSE ανά horizon, encoded rollout με θορυβώδεις εικόνες (σ=0.1)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0972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244F"/>
                </a:solidFill>
                <a:latin typeface="Calibri"/>
              </a:rPr>
              <a:t>9 /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564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244F"/>
                </a:solidFill>
                <a:latin typeface="Calibri"/>
              </a:rPr>
              <a:t>CartPole — βελτίωση 41% (mean) / 61% στο h30</a:t>
            </a:r>
          </a:p>
        </p:txBody>
      </p:sp>
      <p:pic>
        <p:nvPicPr>
          <p:cNvPr id="11" name="Picture 10" descr="p1_median_iqr_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982" y="2103120"/>
            <a:ext cx="4585716" cy="3200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63640" y="175564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244F"/>
                </a:solidFill>
                <a:latin typeface="Calibri"/>
              </a:rPr>
              <a:t>LunarLander — βελτίωση 73% (mean) / 80% στο h30</a:t>
            </a:r>
          </a:p>
        </p:txBody>
      </p:sp>
      <p:pic>
        <p:nvPicPr>
          <p:cNvPr id="13" name="Picture 12" descr="p1_median_iqr_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702" y="2103120"/>
            <a:ext cx="4585716" cy="32004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84632" y="5486400"/>
            <a:ext cx="11219688" cy="640080"/>
          </a:xfrm>
          <a:prstGeom prst="rect">
            <a:avLst/>
          </a:prstGeom>
          <a:solidFill>
            <a:srgbClr val="EC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5486400"/>
            <a:ext cx="1089050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244F"/>
                </a:solidFill>
                <a:latin typeface="Calibri"/>
              </a:rPr>
              <a:t>Γιατί: </a:t>
            </a:r>
            <a:r>
              <a:rPr sz="1250" b="0">
                <a:solidFill>
                  <a:srgbClr val="33363D"/>
                </a:solidFill>
                <a:latin typeface="Calibri"/>
              </a:rPr>
              <a:t>η δομική απομόνωση προστατεύει τα φυσικά μεγέθη από τον θόρυβο των pixels — μεγαλύτερο όφελος στο πιο σύνθετο LunarLander.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PRINCIPLE 2 · ΥΛΟΠΟΙΗΣΗ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Invariance &amp; Equivariance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63D"/>
                </a:solidFill>
                <a:latin typeface="Calibri"/>
              </a:rPr>
              <a:t>Ίδια αρχιτεκτονική με baseline — διαφοροποίηση μόνο στο training objective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0972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244F"/>
                </a:solidFill>
                <a:latin typeface="Calibri"/>
              </a:rPr>
              <a:t>10 / 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" y="1828800"/>
            <a:ext cx="5532120" cy="429768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4632" y="1828800"/>
            <a:ext cx="55321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883664"/>
            <a:ext cx="5166359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Μετασχηματισμοί (στα φυσικά dims)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423160"/>
            <a:ext cx="50749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•  </a:t>
            </a:r>
            <a:r>
              <a:rPr sz="1200" b="1">
                <a:solidFill>
                  <a:srgbClr val="0F244F"/>
                </a:solidFill>
                <a:latin typeface="Calibri"/>
              </a:rPr>
              <a:t>Equivariance θέσης: </a:t>
            </a:r>
            <a:r>
              <a:rPr sz="1200" b="0">
                <a:solidFill>
                  <a:srgbClr val="33363D"/>
                </a:solidFill>
                <a:latin typeface="Calibri"/>
              </a:rPr>
              <a:t>object-only μετατόπιση (κάρο+κοντάρι) μέσω segmentation· η ράγα μένει σταθερή.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•  </a:t>
            </a:r>
            <a:r>
              <a:rPr sz="1200" b="1">
                <a:solidFill>
                  <a:srgbClr val="0F244F"/>
                </a:solidFill>
                <a:latin typeface="Calibri"/>
              </a:rPr>
              <a:t>Equivariance γωνίας: </a:t>
            </a:r>
            <a:r>
              <a:rPr sz="1200" b="0">
                <a:solidFill>
                  <a:srgbClr val="33363D"/>
                </a:solidFill>
                <a:latin typeface="Calibri"/>
              </a:rPr>
              <a:t>περιστροφή ΜΟΝΟ του κονταριού μέσω color-segmentation (tan mask).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•  </a:t>
            </a:r>
            <a:r>
              <a:rPr sz="1200" b="1">
                <a:solidFill>
                  <a:srgbClr val="0F244F"/>
                </a:solidFill>
                <a:latin typeface="Calibri"/>
              </a:rPr>
              <a:t>Invariance φωτεινότητας: </a:t>
            </a:r>
            <a:r>
              <a:rPr sz="1200" b="0">
                <a:solidFill>
                  <a:srgbClr val="33363D"/>
                </a:solidFill>
                <a:latin typeface="Calibri"/>
              </a:rPr>
              <a:t>brightness/contrast jitter → latent αμετάβλητο (το παράδειγμα του paper).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828800"/>
            <a:ext cx="5532120" cy="429768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828800"/>
            <a:ext cx="55321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83664"/>
            <a:ext cx="5166359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Τεχνική &amp; σχεδιαστικές επιλογές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23160"/>
            <a:ext cx="50749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•  </a:t>
            </a:r>
            <a:r>
              <a:rPr sz="1200" b="1">
                <a:solidFill>
                  <a:srgbClr val="0F244F"/>
                </a:solidFill>
                <a:latin typeface="Calibri"/>
              </a:rPr>
              <a:t>Segmentation: </a:t>
            </a:r>
            <a:r>
              <a:rPr sz="1200" b="0">
                <a:solidFill>
                  <a:srgbClr val="33363D"/>
                </a:solidFill>
                <a:latin typeface="Calibri"/>
              </a:rPr>
              <a:t>γεωμετρικός/χρωματικός διαχωρισμός αντικειμένου από φόντο.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•  </a:t>
            </a:r>
            <a:r>
              <a:rPr sz="1200" b="1">
                <a:solidFill>
                  <a:srgbClr val="0F244F"/>
                </a:solidFill>
                <a:latin typeface="Calibri"/>
              </a:rPr>
              <a:t>Known h: </a:t>
            </a:r>
            <a:r>
              <a:rPr sz="1200" b="0">
                <a:solidFill>
                  <a:srgbClr val="33363D"/>
                </a:solidFill>
                <a:latin typeface="Calibri"/>
              </a:rPr>
              <a:t>γνωστή αλλαγή στο latent (Δx, Δθ) στις σωστές standardized μονάδες.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•  </a:t>
            </a:r>
            <a:r>
              <a:rPr sz="1200" b="1">
                <a:solidFill>
                  <a:srgbClr val="0F244F"/>
                </a:solidFill>
                <a:latin typeface="Calibri"/>
              </a:rPr>
              <a:t>Καθαρό ablation: </a:t>
            </a:r>
            <a:r>
              <a:rPr sz="1200" b="0">
                <a:solidFill>
                  <a:srgbClr val="33363D"/>
                </a:solidFill>
                <a:latin typeface="Calibri"/>
              </a:rPr>
              <a:t>η real-pair consistency (P3-like) απενεργοποιημένη.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•  </a:t>
            </a:r>
            <a:r>
              <a:rPr sz="1200" b="1">
                <a:solidFill>
                  <a:srgbClr val="0F244F"/>
                </a:solidFill>
                <a:latin typeface="Calibri"/>
              </a:rPr>
              <a:t>LunarLander: </a:t>
            </a:r>
            <a:r>
              <a:rPr sz="1200" b="0">
                <a:solidFill>
                  <a:srgbClr val="33363D"/>
                </a:solidFill>
                <a:latin typeface="Calibri"/>
              </a:rPr>
              <a:t>ανάλογοι μετασχηματισμοί στο lander.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PRINCIPLE 2 · ΑΠΟΤΕΛΕΣΜΑΤΑ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P2 vs Baseline — Prediction MSE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63D"/>
                </a:solidFill>
                <a:latin typeface="Calibri"/>
              </a:rPr>
              <a:t>Brightness/contrast jitter (level 0.2) στη φάση κωδικοποίησης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0972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244F"/>
                </a:solidFill>
                <a:latin typeface="Calibri"/>
              </a:rPr>
              <a:t>11 /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564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244F"/>
                </a:solidFill>
                <a:latin typeface="Calibri"/>
              </a:rPr>
              <a:t>CartPole — βελτίωση 38% (mean) / 39% στο h30</a:t>
            </a:r>
          </a:p>
        </p:txBody>
      </p:sp>
      <p:pic>
        <p:nvPicPr>
          <p:cNvPr id="11" name="Picture 10" descr="p2_median_iqr_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982" y="2103120"/>
            <a:ext cx="4585716" cy="3200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63640" y="175564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244F"/>
                </a:solidFill>
                <a:latin typeface="Calibri"/>
              </a:rPr>
              <a:t>LunarLander — βελτίωση 12% (mean) / 27% στο h30</a:t>
            </a:r>
          </a:p>
        </p:txBody>
      </p:sp>
      <p:pic>
        <p:nvPicPr>
          <p:cNvPr id="13" name="Picture 12" descr="p2_median_iqr_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702" y="2103120"/>
            <a:ext cx="4585716" cy="32004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84632" y="5486400"/>
            <a:ext cx="11219688" cy="640080"/>
          </a:xfrm>
          <a:prstGeom prst="rect">
            <a:avLst/>
          </a:prstGeom>
          <a:solidFill>
            <a:srgbClr val="EC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5486400"/>
            <a:ext cx="1089050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244F"/>
                </a:solidFill>
                <a:latin typeface="Calibri"/>
              </a:rPr>
              <a:t>Ανάλυση: </a:t>
            </a:r>
            <a:r>
              <a:rPr sz="1250" b="0">
                <a:solidFill>
                  <a:srgbClr val="33363D"/>
                </a:solidFill>
                <a:latin typeface="Calibri"/>
              </a:rPr>
              <a:t>οι μετασχηματισμοί κάνουν την κωδικοποίηση πιο σταθερή σε φωτομετρικές αλλαγές → μικρότερο σφάλμα. Το όφελος είναι μικρότερο στο LunarLander (ήδη πιο φωτο-σταθερό).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PRINCIPLE 3 · ΥΛΟΠΟΙΗΣΗ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Multi-Level Supervision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63D"/>
                </a:solidFill>
                <a:latin typeface="Calibri"/>
              </a:rPr>
              <a:t>Ίδιος μονολιθικός encoder — αλλάζει μόνο ο στόχος εποπτείας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0972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244F"/>
                </a:solidFill>
                <a:latin typeface="Calibri"/>
              </a:rPr>
              <a:t>12 / 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" y="1828800"/>
            <a:ext cx="5532120" cy="429768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4632" y="1828800"/>
            <a:ext cx="55321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883664"/>
            <a:ext cx="5166359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Ρυθμίσεις εποπτείας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423160"/>
            <a:ext cx="50749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SEMI: </a:t>
            </a:r>
            <a:r>
              <a:rPr sz="1250" b="0">
                <a:solidFill>
                  <a:srgbClr val="33363D"/>
                </a:solidFill>
                <a:latin typeface="Calibri"/>
              </a:rPr>
              <a:t>επίβλεψη ΜΟΝΟ στα στατικά (θέση/γωνία)· ταχύτητες ανεπίβλεπτες.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WEAK: </a:t>
            </a:r>
            <a:r>
              <a:rPr sz="1250" b="0">
                <a:solidFill>
                  <a:srgbClr val="33363D"/>
                </a:solidFill>
                <a:latin typeface="Calibri"/>
              </a:rPr>
              <a:t>+ εκτίμηση ταχύτητας από φυσική γνώση: finite diff (x_{t+1}−x_t)/dt, dt=0.02.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FULL: </a:t>
            </a:r>
            <a:r>
              <a:rPr sz="1250" b="0">
                <a:solidFill>
                  <a:srgbClr val="33363D"/>
                </a:solidFill>
                <a:latin typeface="Calibri"/>
              </a:rPr>
              <a:t>επίβλεψη όλων με αληθινά states ≡ baseline (καμπύλη αναφοράς).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828800"/>
            <a:ext cx="5532120" cy="429768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828800"/>
            <a:ext cx="55321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83664"/>
            <a:ext cx="5166359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Σχεδιαστικές παρατηρήσεις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23160"/>
            <a:ext cx="50749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Standardization: </a:t>
            </a:r>
            <a:r>
              <a:rPr sz="1250" b="0">
                <a:solidFill>
                  <a:srgbClr val="33363D"/>
                </a:solidFill>
                <a:latin typeface="Calibri"/>
              </a:rPr>
              <a:t>το finite-diff υπολογίζεται σε raw μονάδες και επανα-standardize-άρεται στις μονάδες της ταχύτητας.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2-frame encoder: </a:t>
            </a:r>
            <a:r>
              <a:rPr sz="1250" b="0">
                <a:solidFill>
                  <a:srgbClr val="33363D"/>
                </a:solidFill>
                <a:latin typeface="Calibri"/>
              </a:rPr>
              <a:t>η ταχύτητα είναι ήδη παρατηρήσιμη → η διαφορά semi vs weak ηπιότερη απ' ό,τι στο paper (single-frame).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Συνειδητή επιλογή: </a:t>
            </a:r>
            <a:r>
              <a:rPr sz="1250" b="0">
                <a:solidFill>
                  <a:srgbClr val="33363D"/>
                </a:solidFill>
                <a:latin typeface="Calibri"/>
              </a:rPr>
              <a:t>κοινός κορμός με baseline/P1/P2.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PRINCIPLE 3 · ΑΠΟΤΕΛΕΣΜΑΤΑ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Baseline vs Weak vs Semi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63D"/>
                </a:solidFill>
                <a:latin typeface="Calibri"/>
              </a:rPr>
              <a:t>State-MSE ανά horizon με θορυβώδεις εικόνες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0972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244F"/>
                </a:solidFill>
                <a:latin typeface="Calibri"/>
              </a:rPr>
              <a:t>13 /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564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244F"/>
                </a:solidFill>
                <a:latin typeface="Calibri"/>
              </a:rPr>
              <a:t>CartPole (σ=0.05)</a:t>
            </a:r>
          </a:p>
        </p:txBody>
      </p:sp>
      <p:pic>
        <p:nvPicPr>
          <p:cNvPr id="11" name="Picture 10" descr="p3_median_iqr_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492" y="2103120"/>
            <a:ext cx="4454695" cy="3108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63640" y="175564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244F"/>
                </a:solidFill>
                <a:latin typeface="Calibri"/>
              </a:rPr>
              <a:t>LunarLander (σ=0.03)</a:t>
            </a:r>
          </a:p>
        </p:txBody>
      </p:sp>
      <p:pic>
        <p:nvPicPr>
          <p:cNvPr id="13" name="Picture 12" descr="p3_median_iqr_encoded_s0p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212" y="2103120"/>
            <a:ext cx="4454695" cy="31089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84632" y="5349240"/>
            <a:ext cx="11219688" cy="777240"/>
          </a:xfrm>
          <a:prstGeom prst="rect">
            <a:avLst/>
          </a:prstGeom>
          <a:solidFill>
            <a:srgbClr val="EC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5349240"/>
            <a:ext cx="1089050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244F"/>
                </a:solidFill>
                <a:latin typeface="Calibri"/>
              </a:rPr>
              <a:t>Αιτιολόγηση: </a:t>
            </a:r>
            <a:r>
              <a:rPr sz="1200" b="0">
                <a:solidFill>
                  <a:srgbClr val="33363D"/>
                </a:solidFill>
                <a:latin typeface="Calibri"/>
              </a:rPr>
              <a:t>στο CartPole το weak ≈ baseline ενώ το semi καταρρέει (ταχύτητες κρίσιμες, finite-diff θορυβώδες). Στο πιο σύνθετο LunarLander το weak ΞΕΠΕΡΝΑ το baseline σε μεγάλους ορίζοντες (0.63 vs 1.65) — η ασθενής εποπτεία προσθέτει ανθεκτικότητα στον θόρυβο.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PRINCIPLE 4 · ΥΛΟΠΟΙΗΣΗ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Output-Space Partitioning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63D"/>
                </a:solidFill>
                <a:latin typeface="Calibri"/>
              </a:rPr>
              <a:t>Ένας μεγάλος decoder → τρεις μικροί object decoders (overlay)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0972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244F"/>
                </a:solidFill>
                <a:latin typeface="Calibri"/>
              </a:rPr>
              <a:t>14 / 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" y="1828800"/>
            <a:ext cx="5532120" cy="429768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4632" y="1828800"/>
            <a:ext cx="55321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883664"/>
            <a:ext cx="5166359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Compositional decoding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423160"/>
            <a:ext cx="50749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3 μικροί decoders: </a:t>
            </a:r>
            <a:r>
              <a:rPr sz="1250" b="0">
                <a:solidFill>
                  <a:srgbClr val="33363D"/>
                </a:solidFill>
                <a:latin typeface="Calibri"/>
              </a:rPr>
              <a:t>κάρο, κοντάρι, φόντο — καθένας ανακατασκευάζει το αντικείμενό του.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Είσοδος ανά decoder: </a:t>
            </a:r>
            <a:r>
              <a:rPr sz="1250" b="0">
                <a:solidFill>
                  <a:srgbClr val="33363D"/>
                </a:solidFill>
                <a:latin typeface="Calibri"/>
              </a:rPr>
              <a:t>υποσύνολο dims (π.χ. cart→[x,ẋ], pole→[x,θ], bg→style).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Σύνθεση: </a:t>
            </a:r>
            <a:r>
              <a:rPr sz="1250" b="0">
                <a:solidFill>
                  <a:srgbClr val="33363D"/>
                </a:solidFill>
                <a:latin typeface="Calibri"/>
              </a:rPr>
              <a:t>overlay σε λευκό → composite = clamp(Σ comp − 2).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Encoder: </a:t>
            </a:r>
            <a:r>
              <a:rPr sz="1250" b="0">
                <a:solidFill>
                  <a:srgbClr val="33363D"/>
                </a:solidFill>
                <a:latin typeface="Calibri"/>
              </a:rPr>
              <a:t>ίδιος με baseline (P4-only ablation).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828800"/>
            <a:ext cx="5532120" cy="429768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828800"/>
            <a:ext cx="55321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83664"/>
            <a:ext cx="5166359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Segmentation (κλασική, on-the-fly)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23160"/>
            <a:ext cx="50749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Color-segmentation: </a:t>
            </a:r>
            <a:r>
              <a:rPr sz="1250" b="0">
                <a:solidFill>
                  <a:srgbClr val="33363D"/>
                </a:solidFill>
                <a:latin typeface="Calibri"/>
              </a:rPr>
              <a:t>bg=λευκό, κάρο=σκούρα pixels, κοντάρι=υπόλοιπα.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Strict partition: </a:t>
            </a:r>
            <a:r>
              <a:rPr sz="1250" b="0">
                <a:solidFill>
                  <a:srgbClr val="33363D"/>
                </a:solidFill>
                <a:latin typeface="Calibri"/>
              </a:rPr>
              <a:t>κάθε pixel ακριβώς σε μία κλάση → το overlay ανακατασκευάζει το frame.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Χωρίς pre-stored masks: </a:t>
            </a:r>
            <a:r>
              <a:rPr sz="1250" b="0">
                <a:solidFill>
                  <a:srgbClr val="33363D"/>
                </a:solidFill>
                <a:latin typeface="Calibri"/>
              </a:rPr>
              <a:t>υπολογισμός ανά batch στη GPU.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Στόχος: </a:t>
            </a:r>
            <a:r>
              <a:rPr sz="1250" b="0">
                <a:solidFill>
                  <a:srgbClr val="33363D"/>
                </a:solidFill>
                <a:latin typeface="Calibri"/>
              </a:rPr>
              <a:t>ίδια ποιότητα με πολύ λιγότερες παραμέτρους decoder.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PRINCIPLE 4 · ΑΠΟΤΕΛΕΣΜΑΤΑ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P4 vs Baseline — Quality vs Model 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63D"/>
                </a:solidFill>
                <a:latin typeface="Calibri"/>
              </a:rPr>
              <a:t>Trade-off ανακατασκευής (MSE / SSIM) έναντι παραμέτρων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0972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244F"/>
                </a:solidFill>
                <a:latin typeface="Calibri"/>
              </a:rPr>
              <a:t>15 / 21</a:t>
            </a:r>
          </a:p>
        </p:txBody>
      </p:sp>
      <p:pic>
        <p:nvPicPr>
          <p:cNvPr id="10" name="Picture 9" descr="p4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59" y="1874519"/>
            <a:ext cx="4251960" cy="2834640"/>
          </a:xfrm>
          <a:prstGeom prst="rect">
            <a:avLst/>
          </a:prstGeom>
        </p:spPr>
      </p:pic>
      <p:pic>
        <p:nvPicPr>
          <p:cNvPr id="11" name="Picture 10" descr="p4_recon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579" y="1874519"/>
            <a:ext cx="4251960" cy="28346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84632" y="4892040"/>
            <a:ext cx="5532120" cy="13716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4632" y="4892040"/>
            <a:ext cx="5532120" cy="384048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4946903"/>
            <a:ext cx="5166359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CartPole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349240"/>
            <a:ext cx="5074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C9A227"/>
                </a:solidFill>
                <a:latin typeface="Calibri"/>
              </a:rPr>
              <a:t>•  </a:t>
            </a:r>
            <a:r>
              <a:rPr sz="1150" b="0">
                <a:solidFill>
                  <a:srgbClr val="33363D"/>
                </a:solidFill>
                <a:latin typeface="Calibri"/>
              </a:rPr>
              <a:t>−75.4% decoder params · ΔSSIM +0.0001 · ΔMSE −0.00011 (ελαφρώς καλύτερο!).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4892040"/>
            <a:ext cx="5532120" cy="13716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4892040"/>
            <a:ext cx="5532120" cy="384048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946903"/>
            <a:ext cx="5166359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LunarLander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349240"/>
            <a:ext cx="5074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C9A227"/>
                </a:solidFill>
                <a:latin typeface="Calibri"/>
              </a:rPr>
              <a:t>•  </a:t>
            </a:r>
            <a:r>
              <a:rPr sz="1150" b="0">
                <a:solidFill>
                  <a:srgbClr val="33363D"/>
                </a:solidFill>
                <a:latin typeface="Calibri"/>
              </a:rPr>
              <a:t>−72.3% decoder params · ΔSSIM −0.0028 · ΔMSE +0.00022 (πρακτικά ίδιο).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ΣΥΝΘΕΣΗ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Συνολική Κριτική Αξιολόγηση των 4 Αρχών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63D"/>
                </a:solidFill>
                <a:latin typeface="Calibri"/>
              </a:rPr>
              <a:t>Ποια αρχή είχε τη μεγαλύτερη επίδραση — και πότε χρειάζεται;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0972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244F"/>
                </a:solidFill>
                <a:latin typeface="Calibri"/>
              </a:rPr>
              <a:t>16 / 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" y="1828800"/>
            <a:ext cx="5532120" cy="429768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4632" y="1828800"/>
            <a:ext cx="55321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883664"/>
            <a:ext cx="5166359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Επίδραση ανά αρχή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423160"/>
            <a:ext cx="50749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P1 (δομή): </a:t>
            </a:r>
            <a:r>
              <a:rPr sz="1250" b="0">
                <a:solidFill>
                  <a:srgbClr val="33363D"/>
                </a:solidFill>
                <a:latin typeface="Calibri"/>
              </a:rPr>
              <a:t>η μεγαλύτερη θετική επίδραση στην πρόβλεψη — έως 73% (LunarLander).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P2 (in/equivariance): </a:t>
            </a:r>
            <a:r>
              <a:rPr sz="1250" b="0">
                <a:solidFill>
                  <a:srgbClr val="33363D"/>
                </a:solidFill>
                <a:latin typeface="Calibri"/>
              </a:rPr>
              <a:t>σταθερά οφέλη σε φωτομετρικό θόρυβο, μικρότερης κλίμακας.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P3 (επίβλεψη): </a:t>
            </a:r>
            <a:r>
              <a:rPr sz="1250" b="0">
                <a:solidFill>
                  <a:srgbClr val="33363D"/>
                </a:solidFill>
                <a:latin typeface="Calibri"/>
              </a:rPr>
              <a:t>εξαρτάται από dataset: βοηθά το LunarLander, βλάπτει το semi στο CartPole.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P4 (decoding): </a:t>
            </a:r>
            <a:r>
              <a:rPr sz="1250" b="0">
                <a:solidFill>
                  <a:srgbClr val="33363D"/>
                </a:solidFill>
                <a:latin typeface="Calibri"/>
              </a:rPr>
              <a:t>≈ίδια ποιότητα με ~75% λιγότερες decoder-params («free lunch»).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828800"/>
            <a:ext cx="5532120" cy="429768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828800"/>
            <a:ext cx="55321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83664"/>
            <a:ext cx="5166359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Πρακτικά συμπεράσματα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23160"/>
            <a:ext cx="50749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Πολυπλοκότητα: </a:t>
            </a:r>
            <a:r>
              <a:rPr sz="1250" b="0">
                <a:solidFill>
                  <a:srgbClr val="33363D"/>
                </a:solidFill>
                <a:latin typeface="Calibri"/>
              </a:rPr>
              <a:t>όσο πιο σύνθετο/θορυβώδες το σύστημα, τόσο μεγαλύτερο το όφελος (LunarLander &gt; CartPole).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Όχι πάντα όλες: </a:t>
            </a:r>
            <a:r>
              <a:rPr sz="1250" b="0">
                <a:solidFill>
                  <a:srgbClr val="33363D"/>
                </a:solidFill>
                <a:latin typeface="Calibri"/>
              </a:rPr>
              <a:t>οι αρχές δεν είναι πάντα αναγκαίες· P1 &amp; P4 σχεδόν πάντα κερδίζουν.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Trade-offs: </a:t>
            </a:r>
            <a:r>
              <a:rPr sz="1250" b="0">
                <a:solidFill>
                  <a:srgbClr val="33363D"/>
                </a:solidFill>
                <a:latin typeface="Calibri"/>
              </a:rPr>
              <a:t>P3 μπορεί να βλάψει όταν η εκτίμηση δυναμικής είναι θορυβώδης.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>
                <a:solidFill>
                  <a:srgbClr val="0F244F"/>
                </a:solidFill>
                <a:latin typeface="Calibri"/>
              </a:rPr>
              <a:t>Ερμηνευσιμότητα ≠ κόστος: </a:t>
            </a:r>
            <a:r>
              <a:rPr sz="1250" b="0">
                <a:solidFill>
                  <a:srgbClr val="33363D"/>
                </a:solidFill>
                <a:latin typeface="Calibri"/>
              </a:rPr>
              <a:t>συχνά συνοδεύεται από καλύτερη ανθεκτικότητα.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ΕΠΕΚΤΑΣΗ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Δυναμική Χωρίς Νευρωνικά — SINDy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63D"/>
                </a:solidFill>
                <a:latin typeface="Calibri"/>
              </a:rPr>
              <a:t>Sparse Identification of Nonlinear Dynamics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0972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244F"/>
                </a:solidFill>
                <a:latin typeface="Calibri"/>
              </a:rPr>
              <a:t>17 / 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" y="2011680"/>
            <a:ext cx="11219688" cy="36576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317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9A227"/>
                </a:solidFill>
                <a:latin typeface="Calibri"/>
              </a:rPr>
              <a:t>[ Διαφάνεια προς συμπλήρωση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1033272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9A227"/>
                </a:solidFill>
                <a:latin typeface="Calibri"/>
              </a:rPr>
              <a:t>•  </a:t>
            </a:r>
            <a:r>
              <a:rPr sz="1300" b="0">
                <a:solidFill>
                  <a:srgbClr val="33363D"/>
                </a:solidFill>
                <a:latin typeface="Calibri"/>
              </a:rPr>
              <a:t>Αντικατάσταση του black-box LSTM με SINDy για εύρεση διαφορικών εξισώσεων.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9A227"/>
                </a:solidFill>
                <a:latin typeface="Calibri"/>
              </a:rPr>
              <a:t>•  </a:t>
            </a:r>
            <a:r>
              <a:rPr sz="1300" b="0">
                <a:solidFill>
                  <a:srgbClr val="33363D"/>
                </a:solidFill>
                <a:latin typeface="Calibri"/>
              </a:rPr>
              <a:t>Σύγκριση SINDy vs LSTM &amp; υβριδικές προσεγγίσεις (horizon-gated, Kalman).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9A227"/>
                </a:solidFill>
                <a:latin typeface="Calibri"/>
              </a:rPr>
              <a:t>•  </a:t>
            </a:r>
            <a:r>
              <a:rPr sz="1300" b="0">
                <a:solidFill>
                  <a:srgbClr val="33363D"/>
                </a:solidFill>
                <a:latin typeface="Calibri"/>
              </a:rPr>
              <a:t>(Κώδικες: sindy*.py, fusion_*.py — θα συμπληρωθεί σε επόμενο βήμα.)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ΕΠΕΚΤΑΣΗ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Έλεγχος &amp; Βελτιστοποίηση (Control)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63D"/>
                </a:solidFill>
                <a:latin typeface="Calibri"/>
              </a:rPr>
              <a:t>Σύνδεση ερμηνευσιμότητας με actual control policy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0972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244F"/>
                </a:solidFill>
                <a:latin typeface="Calibri"/>
              </a:rPr>
              <a:t>18 / 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" y="2011680"/>
            <a:ext cx="11219688" cy="36576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317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9A227"/>
                </a:solidFill>
                <a:latin typeface="Calibri"/>
              </a:rPr>
              <a:t>[ Διαφάνεια προς συμπλήρωση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1033272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9A227"/>
                </a:solidFill>
                <a:latin typeface="Calibri"/>
              </a:rPr>
              <a:t>•  </a:t>
            </a:r>
            <a:r>
              <a:rPr sz="1300" b="0">
                <a:solidFill>
                  <a:srgbClr val="33363D"/>
                </a:solidFill>
                <a:latin typeface="Calibri"/>
              </a:rPr>
              <a:t>Σύγκριση κλασικού PID με υβριδικό PID-MPC.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9A227"/>
                </a:solidFill>
                <a:latin typeface="Calibri"/>
              </a:rPr>
              <a:t>•  </a:t>
            </a:r>
            <a:r>
              <a:rPr sz="1300" b="0">
                <a:solidFill>
                  <a:srgbClr val="33363D"/>
                </a:solidFill>
                <a:latin typeface="Calibri"/>
              </a:rPr>
              <a:t>Αξιοποίηση του «ονείρου» (dreaming) του World Model για πρόβλεψη μελλοντικών αστοχιών.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9A227"/>
                </a:solidFill>
                <a:latin typeface="Calibri"/>
              </a:rPr>
              <a:t>•  </a:t>
            </a:r>
            <a:r>
              <a:rPr sz="1300" b="0">
                <a:solidFill>
                  <a:srgbClr val="33363D"/>
                </a:solidFill>
                <a:latin typeface="Calibri"/>
              </a:rPr>
              <a:t>(Κώδικες: extension4_control*.py — θα συμπληρωθεί σε επόμενο βήμα.)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ΕΠΕΚΤΑΣΗ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Robustness &amp; Out-of-Distribution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63D"/>
                </a:solidFill>
                <a:latin typeface="Calibri"/>
              </a:rPr>
              <a:t>Ανθεκτικότητα σε θόρυβο/spikes στα static states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0972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244F"/>
                </a:solidFill>
                <a:latin typeface="Calibri"/>
              </a:rPr>
              <a:t>19 / 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" y="2011680"/>
            <a:ext cx="11219688" cy="36576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317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9A227"/>
                </a:solidFill>
                <a:latin typeface="Calibri"/>
              </a:rPr>
              <a:t>[ Διαφάνεια προς συμπλήρωση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1033272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9A227"/>
                </a:solidFill>
                <a:latin typeface="Calibri"/>
              </a:rPr>
              <a:t>•  </a:t>
            </a:r>
            <a:r>
              <a:rPr sz="1300" b="0">
                <a:solidFill>
                  <a:srgbClr val="33363D"/>
                </a:solidFill>
                <a:latin typeface="Calibri"/>
              </a:rPr>
              <a:t>Εισαγωγή θορύβου στα states κατά το evaluation phase.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9A227"/>
                </a:solidFill>
                <a:latin typeface="Calibri"/>
              </a:rPr>
              <a:t>•  </a:t>
            </a:r>
            <a:r>
              <a:rPr sz="1300" b="0">
                <a:solidFill>
                  <a:srgbClr val="33363D"/>
                </a:solidFill>
                <a:latin typeface="Calibri"/>
              </a:rPr>
              <a:t>Στόχος: τα PIWM πιο ανθεκτικά σε OOD/sensor noise από το baseline.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9A227"/>
                </a:solidFill>
                <a:latin typeface="Calibri"/>
              </a:rPr>
              <a:t>•  </a:t>
            </a:r>
            <a:r>
              <a:rPr sz="1300" b="0">
                <a:solidFill>
                  <a:srgbClr val="33363D"/>
                </a:solidFill>
                <a:latin typeface="Calibri"/>
              </a:rPr>
              <a:t>(Θα συμπληρωθεί σε επόμενο βήμα.)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ΟΜΑΔΑ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Κατανομή Εργασιών (Team Contributions)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63D"/>
                </a:solidFill>
                <a:latin typeface="Calibri"/>
              </a:rPr>
              <a:t>Ποιος ανέλαβε τι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0972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244F"/>
                </a:solidFill>
                <a:latin typeface="Calibri"/>
              </a:rPr>
              <a:t>20 / 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" y="2011680"/>
            <a:ext cx="11219688" cy="36576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317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9A227"/>
                </a:solidFill>
                <a:latin typeface="Calibri"/>
              </a:rPr>
              <a:t>[ Διαφάνεια προς συμπλήρωση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1033272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9A227"/>
                </a:solidFill>
                <a:latin typeface="Calibri"/>
              </a:rPr>
              <a:t>•  </a:t>
            </a:r>
            <a:r>
              <a:rPr sz="1300" b="0">
                <a:solidFill>
                  <a:srgbClr val="33363D"/>
                </a:solidFill>
                <a:latin typeface="Calibri"/>
              </a:rPr>
              <a:t>Πίνακας με ονοματεπώνυμο κάθε μέλους και tasks (Κώδικας, Εκπαίδευση, Πειράματα, Παρουσίαση).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9A227"/>
                </a:solidFill>
                <a:latin typeface="Calibri"/>
              </a:rPr>
              <a:t>•  </a:t>
            </a:r>
            <a:r>
              <a:rPr sz="1300" b="0">
                <a:solidFill>
                  <a:srgbClr val="33363D"/>
                </a:solidFill>
                <a:latin typeface="Calibri"/>
              </a:rPr>
              <a:t>(Θα συμπληρωθεί σε επόμενο βήμα.)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ΑΝΑΣΚΟΠΗΣΗ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Retrospective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63D"/>
                </a:solidFill>
                <a:latin typeface="Calibri"/>
              </a:rPr>
              <a:t>Τι μάθαμε από τη διαδικασία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0972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244F"/>
                </a:solidFill>
                <a:latin typeface="Calibri"/>
              </a:rPr>
              <a:t>21 / 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" y="2011680"/>
            <a:ext cx="11219688" cy="36576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317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9A227"/>
                </a:solidFill>
                <a:latin typeface="Calibri"/>
              </a:rPr>
              <a:t>[ Διαφάνεια προς συμπλήρωση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1033272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9A227"/>
                </a:solidFill>
                <a:latin typeface="Calibri"/>
              </a:rPr>
              <a:t>•  </a:t>
            </a:r>
            <a:r>
              <a:rPr sz="1300" b="0">
                <a:solidFill>
                  <a:srgbClr val="33363D"/>
                </a:solidFill>
                <a:latin typeface="Calibri"/>
              </a:rPr>
              <a:t>Δυσκολίες: υπολογιστικοί πόροι, συνεργασία, bugs από έλλειψη open-source κώδικα στο paper.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9A227"/>
                </a:solidFill>
                <a:latin typeface="Calibri"/>
              </a:rPr>
              <a:t>•  </a:t>
            </a:r>
            <a:r>
              <a:rPr sz="1300" b="0">
                <a:solidFill>
                  <a:srgbClr val="33363D"/>
                </a:solidFill>
                <a:latin typeface="Calibri"/>
              </a:rPr>
              <a:t>Βελτιώσεις: time management, code architecture, communication.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9A227"/>
                </a:solidFill>
                <a:latin typeface="Calibri"/>
              </a:rPr>
              <a:t>•  </a:t>
            </a:r>
            <a:r>
              <a:rPr sz="1300" b="0">
                <a:solidFill>
                  <a:srgbClr val="33363D"/>
                </a:solidFill>
                <a:latin typeface="Calibri"/>
              </a:rPr>
              <a:t>(Θα συμπληρωθεί σε επόμενο βήμα.)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