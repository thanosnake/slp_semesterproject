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EBCF7F-D20A-F2B7-8E9A-04B9922F36C6}" v="1127" dt="2026-06-03T16:05:45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A4112-58A3-43A0-BD02-6CAF5EF7F1DA}" type="datetimeFigureOut">
              <a:t>3/6/2026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6AD65-124B-4418-8A3F-B29DA0E2E37B}" type="slidenum"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0485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Καλημέρα. Παρουσιάζουμε το άρθρο για τα φυσικά ερμηνεύσιμα world models, την αναπαραγωγή του και τις πιθανές επεκτάσεις μας.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Τα world models συμπιέζουν την εικόνα και προβλέπουν την εξέλιξή της. Ο πράκτορας μπορεί να εξασκείται μέσα στο μοντέλο. Το σχήμα δείχνει τον βρόχο με την ενέργεια να επηρεάζει τη δυναμική.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Ορισμός: αντιστοίχιση του λανθάνοντος σε φυσικές μεταβλητές και λανθάνουσα δυναμική που ακολουθεί την πραγματική. Αυτό φέρνει αξιοπιστία, επαληθευσιμότητα και σύνδεση με τον κλασικό έλεγχο.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Τα informed βοηθούν τη μάθηση αλλά αφήνουν αδιαφανές το z. Τα interpretable δίνουν ρητό φυσικό νόημα. Δυσκολίες: κατανεμημένες αναπαραστάσεις, μερική παρατηρησιμότητα και δύσκολη ετικετοποίηση.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Η Αρχή 1 οργανώνει το z σε κλάδους και η συνολική απώλεια αθροίζει τις απώλειες κάθε κλάδου. Η Αρχή 2 ελέγχει πώς αντιδρά το z σε μετασχηματισμούς, με invariance ως ειδική περίπτωση όπου το h είναι ταυτότητα.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Η Αρχή 3 συνδυάζει πλήρη, ασθενή και αυτο-επίβλεψη μέσα από ένα σταθμισμένο άθροισμα απωλειών. Η Αρχή 4 σπάει την παραγωγή της εικόνας σε μικρούς generators ανά αντικείμενο, ώστε να γίνεται εφικτή η επαλήθευση.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Η εικόνα είναι το σχήμα του άρθρου με τα components και τις αρχές. Encoders, δυναμική και decoder. Δύο απλά benchmarks με VAE και LSTM και εξήντα τέσσερις λανθάνουσες διαστάσεις.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Το επάνω σχήμα δείχνει ότι κάθε αρχή μειώνει το σφάλμα, κυρίως σε μακρινούς ορίζοντες. Ο πίνακας αφορά την τέταρτη αρχή, η διαμέριση μικραίνει το μοντέλο διατηρώντας την ποιότητα ανακατασκευής.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Το κεντρικό μήνυμα: η ερμηνευσιμότητα φέρνει σταθερότητα και γενίκευση, όχι μόνο διαφάνεια.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Δουλεύοντας πάνω στον κώδικα βρήκαμε αρκετές αστοχίες. Η πιο ουσιαστική είναι η τυχαία συλλογή δεδομένων στο Cart Pole, γι αυτό προτείνουμε τυχαίο PID για μεγαλύτερα και πιο πλούσια επεισόδια.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Πρώτα δεδομένα και loader, μετά οι αρχιτεκτονικές, μετά οι τέσσερις αρχές και τέλος η σύγκριση με το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Επιγραμματική επισκόπηση των κατευθύνσεων επέκτασης, που αναλύονται μία προς μία στις επόμενες διαφάνειες.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Γενικές κατευθύνσεις: νέα δεδομένα, πιο σύγχρονα δίκτυα, ο interaction encoder με GNNs και βελτίωση της δειγματοληπτικής αποδοτικότητας του 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Όλα τρέχουν σε δωρεάν πόρους. Αυτό περιορίζει το πόσο μπορούμε να επεκταθούμε και στα δύο περιβάλλοντα και το μέγεθος των πειραμάτων.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Δύο περιβάλλοντα διαφορετικής πολυπλοκότητας. Το Cart Pole έχει τέσσερις καταστάσεις, το Lunar Lander οκτώ. Παράγουμε τα δεδομένα μόνοι μας από το Gym.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Μοιράσαμε τους ρόλους ώστε κάθε μέλος να αναλάβει ένα σαφές κομμάτι, με κοινά στάδια στη μελέτη και στις επεκτάσεις.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81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572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ΕΘΝΙΚΟ ΜΕΤΣΟΒΙΟ ΠΟΛΥΤΕΧΝΕΙΟ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0CBE3"/>
                </a:solidFill>
                <a:latin typeface="Calibri"/>
              </a:rPr>
              <a:t>Σχολή Ηλεκτρολόγων Μηχανικών και Μηχανικών Υπολογιστών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0CBE3"/>
                </a:solidFill>
                <a:latin typeface="Calibri"/>
              </a:rPr>
              <a:t>Εξαμηνιαία Εργασία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777240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7909560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af-ZA" sz="3200" b="1">
                <a:solidFill>
                  <a:srgbClr val="FFFFFF"/>
                </a:solidFill>
                <a:latin typeface="Calibri"/>
              </a:rPr>
              <a:t>     Fout Principles For Physical</a:t>
            </a:r>
            <a:r>
              <a:rPr lang="el-GR" sz="3200" b="1" dirty="0">
                <a:solidFill>
                  <a:srgbClr val="FFFFFF"/>
                </a:solidFill>
                <a:latin typeface="Calibri"/>
              </a:rPr>
              <a:t> Interpretable                              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World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7909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 i="0">
                <a:solidFill>
                  <a:srgbClr val="C9A227"/>
                </a:solidFill>
                <a:latin typeface="Calibri"/>
              </a:rPr>
              <a:t>Αναπαραγωγή, αξιολόγηση και πιθανές επεκτάσεις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73168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Ενδιάμεση Παρουσίαση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57216"/>
            <a:ext cx="790956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 err="1">
                <a:solidFill>
                  <a:srgbClr val="C0CBE3"/>
                </a:solidFill>
                <a:latin typeface="Calibri"/>
              </a:rPr>
              <a:t>Πλούμης</a:t>
            </a:r>
            <a:r>
              <a:rPr lang="en-US" sz="1400" dirty="0">
                <a:solidFill>
                  <a:srgbClr val="C0CBE3"/>
                </a:solidFill>
                <a:latin typeface="Calibri"/>
              </a:rPr>
              <a:t> </a:t>
            </a:r>
            <a:r>
              <a:rPr lang="en-US" sz="1400" dirty="0" err="1">
                <a:solidFill>
                  <a:srgbClr val="C0CBE3"/>
                </a:solidFill>
                <a:latin typeface="Calibri"/>
              </a:rPr>
              <a:t>Φίλι</a:t>
            </a:r>
            <a:r>
              <a:rPr lang="en-US" sz="1400" dirty="0">
                <a:solidFill>
                  <a:srgbClr val="C0CBE3"/>
                </a:solidFill>
                <a:latin typeface="Calibri"/>
              </a:rPr>
              <a:t>ππ</a:t>
            </a:r>
            <a:r>
              <a:rPr lang="en-US" sz="1400" dirty="0" err="1">
                <a:solidFill>
                  <a:srgbClr val="C0CBE3"/>
                </a:solidFill>
                <a:latin typeface="Calibri"/>
              </a:rPr>
              <a:t>ος</a:t>
            </a:r>
            <a:r>
              <a:rPr lang="en-US" sz="1400" dirty="0">
                <a:solidFill>
                  <a:srgbClr val="C0CBE3"/>
                </a:solidFill>
                <a:latin typeface="Calibri"/>
              </a:rPr>
              <a:t>, </a:t>
            </a:r>
            <a:r>
              <a:rPr sz="1400" b="0" i="0" dirty="0">
                <a:solidFill>
                  <a:srgbClr val="C0CBE3"/>
                </a:solidFill>
                <a:latin typeface="Calibri"/>
              </a:rPr>
              <a:t>Ρήγας Αθανάσιος, Μπακογιώργος Ηλίας, </a:t>
            </a:r>
            <a:r>
              <a:rPr lang="el-GR" sz="1400" dirty="0">
                <a:solidFill>
                  <a:srgbClr val="C0CBE3"/>
                </a:solidFill>
                <a:latin typeface="Calibri"/>
              </a:rPr>
              <a:t>Φειδάκης Αθανάσιος</a:t>
            </a:r>
            <a:endParaRPr lang="el-GR" sz="1400" b="0" i="0" dirty="0" err="1">
              <a:solidFill>
                <a:srgbClr val="C0CBE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6840" y="58521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Αθήνα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6172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Ιούνιος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ΕΙΣΑΓΩΓΗ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Τι είναι τα World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Παραγωγικά μοντέλα που μαθαίνουν να προβλέπουν την εξέλιξη ενός περιβάλλοντος μέσα από τις παρατηρήσεις και τις ενέργειες του πράκτορα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72800" cy="19657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Σκο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π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ός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συμ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ιέζουν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εικόνες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υψηλής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διάστ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σης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μικρό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λα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νθάνον</a:t>
            </a:r>
            <a:r>
              <a:rPr lang="el-GR" sz="1500" dirty="0">
                <a:solidFill>
                  <a:srgbClr val="33363D"/>
                </a:solidFill>
                <a:latin typeface="Calibri"/>
              </a:rPr>
              <a:t> χώρο 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και 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ρο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λέ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ουν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χρονική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εξέλιξη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ώστε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ο 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ράκτορ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ας να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σχεδιάζει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χωρίς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συνεχή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ρόσ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βα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στο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πρα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γμ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τικό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ερι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άλλον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Εφ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ρμογές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χρησιμο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οιούντ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στη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ρομ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οτική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στην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υτόνομη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οδήγηση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στο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reinforcement learning, όπ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τα πρα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γμ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τικά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δεδομέν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αι 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κρι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βά ή επ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ικίνδυν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α.</a:t>
            </a:r>
            <a:endParaRPr sz="15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Δι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φορά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από τα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κλ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σικά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μοντέλ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μαθα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ίνουν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δυν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μική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απ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ευθεί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ας από ακα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τέργ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στ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lang="af-ZA" sz="1500" dirty="0">
                <a:solidFill>
                  <a:srgbClr val="33363D"/>
                </a:solidFill>
                <a:latin typeface="Calibri"/>
              </a:rPr>
              <a:t>pixels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, 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ντί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να βα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σίζοντ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ρητές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εξισώσεις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χειρο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οίητ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 χαρα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κτηριστικά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.</a:t>
            </a:r>
            <a:endParaRPr sz="15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4202654"/>
            <a:ext cx="1889699" cy="749808"/>
          </a:xfrm>
          <a:prstGeom prst="round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0F244F"/>
                </a:solidFill>
                <a:latin typeface="Calibri"/>
              </a:rPr>
              <a:t>Παρατήρηση x(t)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59273" y="4484056"/>
            <a:ext cx="329184" cy="164592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95539" y="4202654"/>
            <a:ext cx="1889699" cy="749808"/>
          </a:xfrm>
          <a:prstGeom prst="round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Κωδικοποιητής V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92320" y="4484056"/>
            <a:ext cx="329184" cy="164592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0998" y="4191448"/>
            <a:ext cx="1889699" cy="749808"/>
          </a:xfrm>
          <a:prstGeom prst="round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Δυναμική 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36573" y="4495262"/>
            <a:ext cx="329184" cy="164592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06457" y="4202654"/>
            <a:ext cx="1889699" cy="749808"/>
          </a:xfrm>
          <a:prstGeom prst="round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Αποκωδικοποιητής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25650" y="4495262"/>
            <a:ext cx="329184" cy="164592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61916" y="4191448"/>
            <a:ext cx="1889699" cy="749808"/>
          </a:xfrm>
          <a:prstGeom prst="round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0F244F"/>
                </a:solidFill>
                <a:latin typeface="Calibri"/>
              </a:rPr>
              <a:t>Πρόβλεψη x(t+1)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153" y="3961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F244F"/>
                </a:solidFill>
                <a:latin typeface="Calibri"/>
              </a:rPr>
              <a:t>z(t)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1818" y="3961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F244F"/>
                </a:solidFill>
                <a:latin typeface="Calibri"/>
              </a:rPr>
              <a:t>z(t+1)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6505" y="347965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0F244F"/>
                </a:solidFill>
                <a:latin typeface="Calibri"/>
              </a:rPr>
              <a:t>Ενέργεια a(t)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72851" y="3743661"/>
            <a:ext cx="201168" cy="42062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423737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33363D"/>
                </a:solidFill>
                <a:latin typeface="Calibri"/>
              </a:rPr>
              <a:t>Εκπαίδευση στη φαντασία: το V συμπιέζει την εικόνα, το M προβλέπει το επόμενο λανθάνον με βάση την ενέργεια και ο αποκωδικοποιητής δίνει την πρόβλεψη.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ΑΠΟ ΤΑ INFORMED ΣΤΑ INTERPRETABLE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Φυσικά Ερμηνεύσιμα World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3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Μοντέλα στα οποία ο λανθάνων χώρος αποκτά ρητό φυσικό νόημα, αντί να παραμένει ένα αδιαφανές διάνυσμα χαρακτηριστικών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532120" cy="32004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75104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Τι είναι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87168"/>
            <a:ext cx="5129784" cy="2496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0F244F"/>
                </a:solidFill>
                <a:latin typeface="Calibri"/>
              </a:rPr>
              <a:t>Αντιστοίχιση: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κάθε λανθάνουσα διάσταση συνδέεται με ένα συγκεκριμένο φυσικό μέγεθος, όπως η θέση, η ταχύτητα ή η γωνία.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0F244F"/>
                </a:solidFill>
                <a:latin typeface="Calibri"/>
              </a:rPr>
              <a:t>Δυναμική: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η εξέλιξη μέσα στον λανθάνοντα χώρο ακολουθεί την πραγματική φυσική του συστήματος και όχι μια αυθαίρετη τροχιά.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0F244F"/>
                </a:solidFill>
                <a:latin typeface="Calibri"/>
              </a:rPr>
              <a:t>Συμβολική γνώση: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ενσωματώνεται μέσα στη δομή και στην εκπαίδευση, ώστε το μοντέλο να σέβεται γνωστούς φυσικούς κανόνες.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532120" cy="32004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75104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Τι πετυχαίνουν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811641"/>
            <a:ext cx="5129784" cy="184736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Αξιο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π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ιστί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αναπαρα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στάσεις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γίνοντ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κατα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νοητές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ελέγξιμες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"φιλικές" σε έλεγχο σφαλμάτων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Επα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ληθευσιμότητ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επ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ιτρέ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ική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νάλυση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σφάλει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απ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ευθεί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άνω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στάσεις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Σύνδεση 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με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έλεγχο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λητές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άμεσ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ξιο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οιήσιμες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από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κλ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σικούς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ελεγκτές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και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λγορίθμους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σχεδι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σμού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5230368"/>
            <a:ext cx="11201400" cy="98755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340096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Γιατί τα επιδιώκουμε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1065276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1F1F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ερμηνεύσιμο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μοντέλο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μπ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ορεί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να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λειτουργήσει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τα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υτόχρον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εκτιμητής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τάστ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σης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ρο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λέ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τροχιάς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και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μοντέλο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επα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λήθευσης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,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ενώνοντ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ας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έτσι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δύν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βα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θιάς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μάθησης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υστηρότητ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του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κλ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σικού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ελέγχου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ΚΙΝΗΤΡΟ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Γιατί δεν αρκούν τα Physically Informed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4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Η ερμηνευσιμότητα προσφέρει κάτι ουσιαστικά παραπάνω από την απλή χρήση φυσικής γνώσης στην εκπαίδευση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306324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Physically informed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41447"/>
            <a:ext cx="5129784" cy="2359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0F244F"/>
                </a:solidFill>
                <a:latin typeface="Calibri"/>
              </a:rPr>
              <a:t>Ιδέα: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η φυσική γνώση αξιοποιείται μόνο για να γίνει η μάθηση πιο αποδοτική και γενικεύσιμη.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0F244F"/>
                </a:solidFill>
                <a:latin typeface="Calibri"/>
              </a:rPr>
              <a:t>Λανθάνων χώρος: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παραμένει αδιαφανής, καθώς κάθε χαρακτηριστικό κατανέμεται σε πολλές μεταβλητές.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0F244F"/>
                </a:solidFill>
                <a:latin typeface="Calibri"/>
              </a:rPr>
              <a:t>Όριο: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δεν προσφέρει φυσικές εγγυήσεις, ούτε άμεση σύνδεση με κλασικό έλεγχο και επαλήθευση.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532120" cy="306324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Physically interpretable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697340"/>
            <a:ext cx="5129784" cy="184736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Ιδέ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ο λα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νθάνων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χώρος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οκτά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ρητό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φυσικό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νόημ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και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έτσι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υπ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ερκ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λύ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τα physically informed.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Όφελος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ξιο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ιστί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α,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τότητ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διόρθωσης σφαλμάτων και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ική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επα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λήθευση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εριφοράς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1" i="0" dirty="0" err="1">
                <a:solidFill>
                  <a:srgbClr val="0F244F"/>
                </a:solidFill>
                <a:latin typeface="Calibri"/>
              </a:rPr>
              <a:t>Στόχος</a:t>
            </a:r>
            <a:r>
              <a:rPr sz="1300" b="1" i="0" dirty="0">
                <a:solidFill>
                  <a:srgbClr val="0F244F"/>
                </a:solidFill>
                <a:latin typeface="Calibri"/>
              </a:rPr>
              <a:t> μας: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υτή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κρι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ώς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κα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τηγορί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μοντέλων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ντικείμενο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μελετά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άρθρο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5074920"/>
            <a:ext cx="11201400" cy="114300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184648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Οι βασικές δυσκολίες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95544"/>
            <a:ext cx="1065276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Η βαθιά μάθηση τείνει φυσικά σε κατανεμημένες αναπαραστάσεις όπου κάθε έννοια απλώνεται σε πολλές μεταβλητές. Επιπλέον η κατάσταση είναι συχνά μόνο μερικώς παρατηρήσιμη και η ακριβής ετικετοποίηση των δεδομένων - για παράδειγμα το ποια κατάσταση είναι πιο επικίνδυνη σε ένα βίντεο - είναι ιδιαίτερα δύσκολη.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ΤΟ ΑΡΘΡΟ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Οι τέσσερις αρχές, πρώτο μέρος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5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Τέσσερις αρχές σχεδίασης που κάνουν ένα world model φυσικά ερμηνεύσιμο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532120" cy="43434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837944"/>
            <a:ext cx="516636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1" i="0" err="1">
                <a:solidFill>
                  <a:srgbClr val="FFFFFF"/>
                </a:solidFill>
                <a:latin typeface="Calibri"/>
              </a:rPr>
              <a:t>Αρχή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 1 </a:t>
            </a:r>
            <a:r>
              <a:rPr sz="1500" b="1" i="0" err="1">
                <a:solidFill>
                  <a:srgbClr val="FFFFFF"/>
                </a:solidFill>
                <a:latin typeface="Calibri"/>
              </a:rPr>
              <a:t>Οργάνωση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λα</a:t>
            </a:r>
            <a:r>
              <a:rPr sz="1500" b="1" i="0" err="1">
                <a:solidFill>
                  <a:srgbClr val="FFFFFF"/>
                </a:solidFill>
                <a:latin typeface="Calibri"/>
              </a:rPr>
              <a:t>νθάνοντος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err="1">
                <a:solidFill>
                  <a:srgbClr val="FFFFFF"/>
                </a:solidFill>
                <a:latin typeface="Calibri"/>
              </a:rPr>
              <a:t>χώρου</a:t>
            </a:r>
            <a:endParaRPr lang="el-GR" sz="1500" b="1" i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33363D"/>
                </a:solidFill>
                <a:latin typeface="Calibri"/>
              </a:rPr>
              <a:t>Functionally organized latent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676" y="2937970"/>
            <a:ext cx="5129784" cy="1714893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Ιδέ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ο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κωδικο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οιητής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σπ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άει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ξεχωριστούς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κλάδους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, κα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θέν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κριτό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φυσικό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σκο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πό.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Πα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ράδειγμ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κλάδος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φυσική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τάστ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τις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λληλε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ιδράσεις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ύφος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σκηνής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Όφελος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κάθε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τμήμ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250" dirty="0">
                <a:solidFill>
                  <a:srgbClr val="33363D"/>
                </a:solidFill>
                <a:latin typeface="Calibri"/>
              </a:rPr>
              <a:t>latent</a:t>
            </a:r>
            <a:r>
              <a:rPr lang="el-GR" sz="125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250" dirty="0">
                <a:solidFill>
                  <a:srgbClr val="33363D"/>
                </a:solidFill>
                <a:latin typeface="Calibri"/>
              </a:rPr>
              <a:t>space γίνεται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κατα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νοητό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και 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ξιο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οιήσιμο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ξεχωριστά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5093208"/>
            <a:ext cx="5166360" cy="89611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157216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244F"/>
                </a:solidFill>
                <a:latin typeface="Calibri"/>
              </a:rPr>
              <a:t>Βασική σχέση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22392"/>
            <a:ext cx="4892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z = [ enc_1(x) , … , enc_n(x) ]</a:t>
            </a:r>
          </a:p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L  ∝  Σ_i  L_i( f_i(enc_i(x)) , x 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783080"/>
            <a:ext cx="5532120" cy="43434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78308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837944"/>
            <a:ext cx="516636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  <a:latin typeface="Calibri"/>
              </a:rPr>
              <a:t>Αρχή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2 Invariance και Equivariance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33363D"/>
                </a:solidFill>
                <a:latin typeface="Calibri"/>
              </a:rPr>
              <a:t>Aligned invariant and equivariant representations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937313"/>
            <a:ext cx="5129784" cy="1714893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Invariance: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λλ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γές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όπ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ο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φωτισμός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ή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χρώμ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ρέ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να 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λλάζουν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φυσική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τάστ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Equivariance: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λλ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γές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όπ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τό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ιση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ρέ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να 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λλάζουν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ρο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λέψιμ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lang="el-GR" sz="1250" dirty="0">
                <a:solidFill>
                  <a:srgbClr val="33363D"/>
                </a:solidFill>
                <a:latin typeface="Calibri"/>
              </a:rPr>
              <a:t> διάνυσμα στο latent space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Όφελος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αναπαρα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στάσεις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ευθυγρ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μμίζοντ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νθρώ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ινη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ερμηνεί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κόσμου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5093208"/>
            <a:ext cx="5166360" cy="89611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157216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244F"/>
                </a:solidFill>
                <a:latin typeface="Calibri"/>
              </a:rPr>
              <a:t>Βασική σχέση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22392"/>
            <a:ext cx="4892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enc( g(x) )  ≈  h( enc(x) )</a:t>
            </a:r>
          </a:p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L  ∝  E ‖ enc(g(x)) − h(enc(x)) ‖²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ΤΟ ΑΡΘΡΟ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Οι τέσσερις αρχές, δεύτερο μέρος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6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532120" cy="47548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380744"/>
            <a:ext cx="516636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1" i="0" dirty="0" err="1">
                <a:solidFill>
                  <a:srgbClr val="FFFFFF"/>
                </a:solidFill>
                <a:latin typeface="Calibri"/>
              </a:rPr>
              <a:t>Αρχή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 3</a:t>
            </a:r>
            <a:r>
              <a:rPr lang="el-GR" sz="1500" b="1">
                <a:solidFill>
                  <a:srgbClr val="FFFFFF"/>
                </a:solidFill>
                <a:latin typeface="Calibri"/>
              </a:rPr>
              <a:t> 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Πολυεπίπεδη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επίβ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λεψη</a:t>
            </a:r>
            <a:endParaRPr lang="el-GR" sz="1500" b="1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33363D"/>
                </a:solidFill>
                <a:latin typeface="Calibri"/>
              </a:rPr>
              <a:t>Multi level and multi strength supervision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73029"/>
            <a:ext cx="5129784" cy="174054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Πλήρης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 επίβ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λεψη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άμεση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σύγκριση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250" dirty="0">
                <a:solidFill>
                  <a:srgbClr val="33363D"/>
                </a:solidFill>
                <a:latin typeface="Calibri"/>
              </a:rPr>
              <a:t>παραγόμενων από το μοντέλο τιμών 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πρα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γμ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τικές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τιμές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θέσης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και τα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χύτητ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ας.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Ασθενής επίβ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λεψη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εριορισμοί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ομ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λότητ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τροχιάς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ότ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αν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λεί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ουν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κρι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είς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ετικέτες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Αυτο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-επίβ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λεψη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contrastive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μάθηση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ότ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αν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υπ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άρχει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μί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ετικέτ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δεδομέν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5047488"/>
            <a:ext cx="5166360" cy="89611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111496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244F"/>
                </a:solidFill>
                <a:latin typeface="Calibri"/>
              </a:rPr>
              <a:t>Βασική σχέση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6672"/>
            <a:ext cx="4892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L  =  Σ_k  w_k · L_k</a:t>
            </a:r>
          </a:p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L_smooth = Σ_t ‖ p_t − 2 p_(t+1) + p_(t+2) ‖²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5532120" cy="47548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380744"/>
            <a:ext cx="516636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1" i="0" err="1">
                <a:solidFill>
                  <a:srgbClr val="FFFFFF"/>
                </a:solidFill>
                <a:latin typeface="Calibri"/>
              </a:rPr>
              <a:t>Αρχή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 4 </a:t>
            </a:r>
            <a:r>
              <a:rPr sz="1500" b="1" i="0" err="1">
                <a:solidFill>
                  <a:srgbClr val="FFFFFF"/>
                </a:solidFill>
                <a:latin typeface="Calibri"/>
              </a:rPr>
              <a:t>Δι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α</a:t>
            </a:r>
            <a:r>
              <a:rPr sz="1500" b="1" i="0" err="1">
                <a:solidFill>
                  <a:srgbClr val="FFFFFF"/>
                </a:solidFill>
                <a:latin typeface="Calibri"/>
              </a:rPr>
              <a:t>μέριση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err="1">
                <a:solidFill>
                  <a:srgbClr val="FFFFFF"/>
                </a:solidFill>
                <a:latin typeface="Calibri"/>
              </a:rPr>
              <a:t>εξόδου</a:t>
            </a:r>
            <a:endParaRPr lang="el-GR" sz="1500" b="1" i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33363D"/>
                </a:solidFill>
                <a:latin typeface="Calibri"/>
              </a:rPr>
              <a:t>Output partitioning for verifiability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148840"/>
            <a:ext cx="5129784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0F244F"/>
                </a:solidFill>
                <a:latin typeface="Calibri"/>
              </a:rPr>
              <a:t>Ιδέα: </a:t>
            </a:r>
            <a:r>
              <a:rPr sz="1250" b="0" i="0">
                <a:solidFill>
                  <a:srgbClr val="33363D"/>
                </a:solidFill>
                <a:latin typeface="Calibri"/>
              </a:rPr>
              <a:t>πολλοί μικροί generators, καθένας παράγει ένα τμήμα της εικόνας.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0F244F"/>
                </a:solidFill>
                <a:latin typeface="Calibri"/>
              </a:rPr>
              <a:t>Εργαλείο: </a:t>
            </a:r>
            <a:r>
              <a:rPr sz="1250" b="0" i="0">
                <a:solidFill>
                  <a:srgbClr val="33363D"/>
                </a:solidFill>
                <a:latin typeface="Calibri"/>
              </a:rPr>
              <a:t>αυτόματη κατάτμηση των αντικειμένων με μοντέλα όπως το SAM.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0F244F"/>
                </a:solidFill>
                <a:latin typeface="Calibri"/>
              </a:rPr>
              <a:t>Όφελος: </a:t>
            </a:r>
            <a:r>
              <a:rPr sz="1250" b="0" i="0">
                <a:solidFill>
                  <a:srgbClr val="33363D"/>
                </a:solidFill>
                <a:latin typeface="Calibri"/>
              </a:rPr>
              <a:t>μικρότεροι αποκωδικοποιητές που μπορούν να επαληθευτούν ξεχωριστά.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5047488"/>
            <a:ext cx="5166360" cy="89611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5111496"/>
            <a:ext cx="4892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244F"/>
                </a:solidFill>
                <a:latin typeface="Calibri"/>
              </a:rPr>
              <a:t>Βασική σχέση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76672"/>
            <a:ext cx="4892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x̂ = dec_1(z) ⊕ … ⊕ dec_n(z)</a:t>
            </a:r>
          </a:p>
          <a:p>
            <a:pPr>
              <a:lnSpc>
                <a:spcPct val="108000"/>
              </a:lnSpc>
            </a:pPr>
            <a:r>
              <a:rPr sz="1200" b="0" i="0">
                <a:solidFill>
                  <a:srgbClr val="0F244F"/>
                </a:solidFill>
                <a:latin typeface="Consolas"/>
              </a:rPr>
              <a:t>L_gen = ‖ x − x̂ ‖²  +  λ Σ_i ‖ x_i − x̂_i ‖²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ΑΡΧΙΤΕΚΤΟΝΙΚΗ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Η αρχιτεκτονική του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7 / 21</a:t>
            </a:r>
          </a:p>
        </p:txBody>
      </p:sp>
      <p:pic>
        <p:nvPicPr>
          <p:cNvPr id="9" name="Picture 8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6446520" cy="28356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32320" y="1325880"/>
            <a:ext cx="4572000" cy="29260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0" y="1325880"/>
            <a:ext cx="457200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380744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Ρόλος κάθε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133533"/>
            <a:ext cx="4169664" cy="174054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Encoders: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πα</a:t>
            </a:r>
            <a:r>
              <a:rPr sz="1250" b="0" i="0" err="1">
                <a:solidFill>
                  <a:srgbClr val="33363D"/>
                </a:solidFill>
                <a:latin typeface="Calibri"/>
              </a:rPr>
              <a:t>ράγουν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33363D"/>
                </a:solidFill>
                <a:latin typeface="Calibri"/>
              </a:rPr>
              <a:t>τους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33363D"/>
                </a:solidFill>
                <a:latin typeface="Calibri"/>
              </a:rPr>
              <a:t>ξεχωριστούς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33363D"/>
                </a:solidFill>
                <a:latin typeface="Calibri"/>
              </a:rPr>
              <a:t>κλάδους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250">
                <a:solidFill>
                  <a:srgbClr val="33363D"/>
                </a:solidFill>
                <a:latin typeface="Calibri"/>
              </a:rPr>
              <a:t>του latent space</a:t>
            </a:r>
            <a:r>
              <a:rPr lang="el-GR" sz="1250" dirty="0">
                <a:solidFill>
                  <a:srgbClr val="33363D"/>
                </a:solidFill>
                <a:latin typeface="Calibri"/>
              </a:rPr>
              <a:t> </a:t>
            </a:r>
            <a:endParaRPr lang="el-GR"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Δυν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μική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ροωθεί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τα λα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νθάνοντ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στον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χρόνο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β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άση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ενέργει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Decoder: 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ανακατα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σκευάζει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επ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όμενη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παρα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τήρηση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από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λα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νθάνον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11201400" cy="178308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544568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Τα δύο benchmarks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55464"/>
            <a:ext cx="10652760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 dirty="0" err="1">
                <a:solidFill>
                  <a:srgbClr val="1F1F1F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ερευνητές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χρησιμο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οιούν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δύο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ερι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άλλοντ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του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OpenAI Gym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. Tο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Cart Pole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διάνυσμ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κα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τάστ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σης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τεσσάρων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μετ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αβ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λητών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και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Lunar Lander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οκτώ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όλ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τα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ειράμ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ατα ο λα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νθάνων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χώρος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έχει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64 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στάσεις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VAE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κωδικο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οιεί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εικόν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και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LSTM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ρο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λέ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δυν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μική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Αν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λυτική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πα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ρουσί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των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δεδομένων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κολουθεί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ρος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τέλος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Αποτελέσματα του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8 / 21</a:t>
            </a:r>
          </a:p>
        </p:txBody>
      </p:sp>
      <p:pic>
        <p:nvPicPr>
          <p:cNvPr id="9" name="Picture 8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201400" cy="17705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154680"/>
            <a:ext cx="11201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33363D"/>
                </a:solidFill>
                <a:latin typeface="Calibri"/>
              </a:rPr>
              <a:t>Σφάλμα πρόβλεψης φυσικής κατάστασης σε διάφορους ορίζοντες, για τις αρχές ένα έως τρία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6120" y="3611880"/>
          <a:ext cx="57150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Μοντέλο</a:t>
                      </a:r>
                    </a:p>
                  </a:txBody>
                  <a:tcPr marL="54864" marR="36576" marT="18288" marB="18288" anchor="ctr">
                    <a:solidFill>
                      <a:srgbClr val="0F24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Περιβάλλον</a:t>
                      </a:r>
                    </a:p>
                  </a:txBody>
                  <a:tcPr marL="54864" marR="36576" marT="18288" marB="18288" anchor="ctr">
                    <a:solidFill>
                      <a:srgbClr val="0F24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Μέσο MSE</a:t>
                      </a:r>
                    </a:p>
                  </a:txBody>
                  <a:tcPr marL="54864" marR="36576" marT="18288" marB="18288" anchor="ctr">
                    <a:solidFill>
                      <a:srgbClr val="0F24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Μέσο SSIM</a:t>
                      </a:r>
                    </a:p>
                  </a:txBody>
                  <a:tcPr marL="54864" marR="36576" marT="18288" marB="18288" anchor="ctr">
                    <a:solidFill>
                      <a:srgbClr val="0F24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Μέγεθος</a:t>
                      </a:r>
                    </a:p>
                  </a:txBody>
                  <a:tcPr marL="54864" marR="36576" marT="18288" marB="18288" anchor="ctr">
                    <a:solidFill>
                      <a:srgbClr val="0F2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33363D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Cart Pole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0.0286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0.9971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200,259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33363D"/>
                          </a:solidFill>
                          <a:latin typeface="Calibri"/>
                        </a:rPr>
                        <a:t>Διαμερισμένο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Cart Pole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0.0518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0.9956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144,665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33363D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Lunar Lander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0.1880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0.8686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360,773</a:t>
                      </a:r>
                    </a:p>
                  </a:txBody>
                  <a:tcPr marL="54864" marR="3657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33363D"/>
                          </a:solidFill>
                          <a:latin typeface="Calibri"/>
                        </a:rPr>
                        <a:t>Διαμερισμένο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Lunar Lander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0.3060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0.6289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3363D"/>
                          </a:solidFill>
                          <a:latin typeface="Calibri"/>
                        </a:rPr>
                        <a:t>78,101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46120" y="5532120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33363D"/>
                </a:solidFill>
                <a:latin typeface="Calibri"/>
              </a:rPr>
              <a:t>Διαμέριση εξόδου με λ ίσο με 0.2 - μικρότερο μοντέλο με συγκρίσιμη ποιότητα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Βασικά συμπεράσματα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70261"/>
            <a:ext cx="10972800" cy="272311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Όλες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οι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α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ρχές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β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οηθούν</a:t>
            </a:r>
            <a:r>
              <a:rPr lang="el-GR" sz="1600" b="1" dirty="0">
                <a:solidFill>
                  <a:srgbClr val="0F244F"/>
                </a:solidFill>
                <a:latin typeface="Calibri"/>
              </a:rPr>
              <a:t>.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lang="el-GR" sz="1600" dirty="0">
                <a:solidFill>
                  <a:srgbClr val="0F244F"/>
                </a:solidFill>
                <a:latin typeface="Calibri"/>
              </a:rPr>
              <a:t>Μ</a:t>
            </a:r>
            <a:r>
              <a:rPr lang="el-GR" sz="1600" dirty="0">
                <a:solidFill>
                  <a:srgbClr val="33363D"/>
                </a:solidFill>
                <a:latin typeface="Calibri"/>
              </a:rPr>
              <a:t>ειώνουν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σφάλμ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ρό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λεψης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όφελος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να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γίνετ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εντονότερο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όσο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μεγ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λώνει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ο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χρονικός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ορίζοντ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ας.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Η equivariance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ωφελεί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ερισσότερο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ιο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σύνθετ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και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μερικώς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παρα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τηρήσιμ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συστήμ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ατα, όπ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Lunar Lander, και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λιγότερο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απ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λό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Cart Pole.</a:t>
            </a:r>
            <a:endParaRPr sz="16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Η α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σθενής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φυσική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επίβ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λεψη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ελτιώνει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ισθητά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οιότητ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ρό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λεψης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, 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κόμη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ότ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αν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υπ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άρχουν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λήρεις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ετικέτες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.</a:t>
            </a:r>
            <a:endParaRPr sz="16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Η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δι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μέριση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εξόδου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μικρ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ίνει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σημ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ντικά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μοντέλο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τηρώντ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ας τα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υτόχρον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συγκρίσιμη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οιότητ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ανακατα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σκευής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.</a:t>
            </a:r>
            <a:endParaRPr sz="16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5074920"/>
            <a:ext cx="11201400" cy="114300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184648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Σύνδεση με την απόδοση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95544"/>
            <a:ext cx="1065276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 dirty="0">
                <a:solidFill>
                  <a:srgbClr val="1F1F1F"/>
                </a:solidFill>
                <a:latin typeface="Calibri"/>
              </a:rPr>
              <a:t>Η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φυσική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ερμηνευσιμότητ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μόνο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θέμ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κατα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νόησης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Συνδέετ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άμεσ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ιο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θερές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ρο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λέψεις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μα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κρύ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ορίζοντ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και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λύτερη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γενίκευση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, 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κρι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ώς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τα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ζητούμεν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γι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ξιό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ιστ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world models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νοιχτά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και αβέβαια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ερι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άλλοντ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Η ΔΙΚΗ ΜΑΣ ΕΡΓΑΣΙΑ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l-GR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Ο Υπάρχων Κώδικας  - Αδυναμίες που παρατηρήθηκαν</a:t>
            </a:r>
            <a:endParaRPr lang="el-GR" sz="24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Η υλοποίηση θα βασιστεί στον κώδικα του δημόσιου repository, που όμως χρειάζεται σημαντική αποκατάσταση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888" y="2185145"/>
            <a:ext cx="11004115" cy="30958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Ασυμβατότητες και ατέλειες: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βιβλιοθήκες και ορίσματα που δεν ορίζονται εμποδίζουν την εκτέλεση του κώδικα ως έχει.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Συλλογή δεδομένων: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στο Cart Pole γινόταν με εντελώς τυχαίες ενέργειες, οπότε τα επεισόδια ήταν πολύ σύντομα και φτωχά σε σενάρια.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Η πρότασή μας: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τυχαίος έλεγχος τύπου PID, ώστε τα επεισόδια να διαρκούν περισσότερο και να αποτυπώνουν περισσότερες δυνατές καταστάσεις του κόσμου.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Ανάλυση εικόνας και μνήμη: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οι διαστάσεις των εικόνων δεν ταίριαζαν με τον κωδικοποιητή και η διαθέσιμη μνήμη ξεπερνιόταν εύκολα.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Οι τέσσερις αρχές: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υπάρχουν ως πρωτότυπα σενάρια, αλλά δεν εκτελούνται ως έχουν και χρειάζονται ολοκλήρωση.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ΠΛΑΝΟ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Βήματα υλοποίησης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11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Διορθώνουμε και συμπληρώνουμε τον κώδικα σταδιακά, ώστε να αναπαράγουμε αξιόπιστα τα αποτελέσματα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326" y="2205996"/>
            <a:ext cx="11004115" cy="349255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Βήμ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α 1: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διορθώνουμε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συλλογή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δεδομένων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φορά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τους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μοντέλ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κα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τά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διάρκει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εκ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πα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ίδευσης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endParaRPr lang="el-GR" sz="1600" dirty="0">
              <a:solidFill>
                <a:srgbClr val="33363D"/>
              </a:solidFill>
              <a:latin typeface="Calibri"/>
            </a:endParaRP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Βήμ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α 2: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διορθώνουμε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τις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ρχιτεκτονικές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VAE και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LSTM και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στήνουμε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καθα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ρό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και 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ξιό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ιστο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baseline.</a:t>
            </a:r>
            <a:endParaRPr sz="16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800"/>
              </a:spcAft>
            </a:pPr>
            <a:endParaRPr lang="el-GR" sz="1600" dirty="0">
              <a:solidFill>
                <a:srgbClr val="33363D"/>
              </a:solidFill>
              <a:latin typeface="Calibri"/>
            </a:endParaRP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Βήμ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α 3: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συμ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ληρώνουμε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κώδικ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εφ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ρμογή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τεσσάρων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ρχών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άνω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υτό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baseline.</a:t>
            </a:r>
            <a:endParaRPr sz="16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800"/>
              </a:spcAft>
            </a:pPr>
            <a:endParaRPr lang="el-GR" sz="1600" dirty="0">
              <a:solidFill>
                <a:srgbClr val="33363D"/>
              </a:solidFill>
              <a:latin typeface="Calibri"/>
            </a:endParaRP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16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600" b="1" i="0" dirty="0" err="1">
                <a:solidFill>
                  <a:srgbClr val="0F244F"/>
                </a:solidFill>
                <a:latin typeface="Calibri"/>
              </a:rPr>
              <a:t>Βήμ</a:t>
            </a:r>
            <a:r>
              <a:rPr sz="1600" b="1" i="0" dirty="0">
                <a:solidFill>
                  <a:srgbClr val="0F244F"/>
                </a:solidFill>
                <a:latin typeface="Calibri"/>
              </a:rPr>
              <a:t>α 4: 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αναπα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ράγουμε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τα απ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οτελέσμ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ατα και τα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συγκρίνουμε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baseline 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χρησιμο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600" b="0" i="0" dirty="0" err="1">
                <a:solidFill>
                  <a:srgbClr val="33363D"/>
                </a:solidFill>
                <a:latin typeface="Calibri"/>
              </a:rPr>
              <a:t>οιώντ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lang="el-GR" sz="1600" dirty="0">
                <a:solidFill>
                  <a:srgbClr val="33363D"/>
                </a:solidFill>
                <a:latin typeface="Calibri"/>
              </a:rPr>
              <a:t>κοινές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600" dirty="0">
                <a:solidFill>
                  <a:srgbClr val="33363D"/>
                </a:solidFill>
                <a:latin typeface="Calibri"/>
              </a:rPr>
              <a:t>μετρικές</a:t>
            </a:r>
            <a:r>
              <a:rPr sz="1600" b="0" i="0" dirty="0">
                <a:solidFill>
                  <a:srgbClr val="33363D"/>
                </a:solidFill>
                <a:latin typeface="Calibri"/>
              </a:rPr>
              <a:t>.</a:t>
            </a:r>
            <a:endParaRPr sz="16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ΕΠΕΚΤΑΣΕΙΣ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Επιπλέον ερευνητικοί στόχοι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Πέρα από την αναπαραγωγή, διερευνούμε κατευθύνσεις που ανοίγει το άρθρο και αναλύονται στη συνέχεια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464" y="2497673"/>
            <a:ext cx="11004115" cy="241463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Φυσική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γνώση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από LLMs: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άντληση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κα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νόνων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500" dirty="0">
                <a:solidFill>
                  <a:srgbClr val="33363D"/>
                </a:solidFill>
                <a:latin typeface="Calibri"/>
              </a:rPr>
              <a:t>invariance </a:t>
            </a:r>
            <a:r>
              <a:rPr lang="el-GR" sz="1500" dirty="0">
                <a:solidFill>
                  <a:srgbClr val="33363D"/>
                </a:solidFill>
                <a:latin typeface="Calibri"/>
              </a:rPr>
              <a:t>και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equivariance από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μεγάλ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γλωσσικά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μοντέλ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Πολυτρο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π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ικότητ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lang="el-GR" sz="1500" dirty="0">
                <a:solidFill>
                  <a:srgbClr val="33363D"/>
                </a:solidFill>
                <a:latin typeface="Calibri"/>
              </a:rPr>
              <a:t>ευθυγράμμιση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500" dirty="0">
                <a:solidFill>
                  <a:srgbClr val="33363D"/>
                </a:solidFill>
                <a:latin typeface="Calibri"/>
              </a:rPr>
              <a:t>και fusion raw 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ληροφορί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ας από </a:t>
            </a:r>
            <a:r>
              <a:rPr lang="el-GR" sz="1500" dirty="0">
                <a:solidFill>
                  <a:srgbClr val="33363D"/>
                </a:solidFill>
                <a:latin typeface="Calibri"/>
              </a:rPr>
              <a:t>πολλά μέσα (κάμερα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άλλους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ισθητήρες</a:t>
            </a:r>
            <a:r>
              <a:rPr lang="el-GR" sz="1500" dirty="0">
                <a:solidFill>
                  <a:srgbClr val="33363D"/>
                </a:solidFill>
                <a:latin typeface="Calibri"/>
              </a:rPr>
              <a:t>).</a:t>
            </a:r>
            <a:endParaRPr sz="15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Ερμηνεύσιμη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αβεβα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ιότητ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α: 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οσοτικο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οίηση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αβεβα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ιότητ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ας απ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ευθεί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ας 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άνω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φυσικά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μεγέθη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.</a:t>
            </a:r>
            <a:endParaRPr sz="15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Σύνδεση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με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κλ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σικό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έλεγχο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ξιο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οίηση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μοντέλου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από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ελεγκτές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τύ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PID και MPC.</a:t>
            </a:r>
            <a:endParaRPr sz="15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Ενι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ίο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 pipeline 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εκ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πα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ίδευσης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υτόμ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ισορρο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πία 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ολλ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λών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500" dirty="0">
                <a:solidFill>
                  <a:srgbClr val="33363D"/>
                </a:solidFill>
                <a:latin typeface="Calibri"/>
              </a:rPr>
              <a:t>loss functions διαφορετικής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ισχύος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.</a:t>
            </a:r>
            <a:endParaRPr sz="15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 dirty="0">
                <a:solidFill>
                  <a:srgbClr val="C9A227"/>
                </a:solidFill>
                <a:latin typeface="Calibri"/>
              </a:rPr>
              <a:t>•   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Γενικές επ</a:t>
            </a:r>
            <a:r>
              <a:rPr sz="1500" b="1" i="0" dirty="0" err="1">
                <a:solidFill>
                  <a:srgbClr val="0F244F"/>
                </a:solidFill>
                <a:latin typeface="Calibri"/>
              </a:rPr>
              <a:t>εκτάσεις</a:t>
            </a:r>
            <a:r>
              <a:rPr sz="150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νέ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σύνολ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δεδομένων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και π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ιο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σύγχρονες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500" b="0" i="0" dirty="0" err="1">
                <a:solidFill>
                  <a:srgbClr val="33363D"/>
                </a:solidFill>
                <a:latin typeface="Calibri"/>
              </a:rPr>
              <a:t>ρχιτεκτονικές</a:t>
            </a:r>
            <a:r>
              <a:rPr sz="1500" b="0" i="0" dirty="0">
                <a:solidFill>
                  <a:srgbClr val="33363D"/>
                </a:solidFill>
                <a:latin typeface="Calibri"/>
              </a:rPr>
              <a:t>.</a:t>
            </a:r>
            <a:endParaRPr sz="15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ΕΠΕΚΤΑΣΗ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Φυσική γνώση από LLMs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13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Η Αρχή 2 απαιτεί να ορίσουμε ποιες αλλαγές της εικόνας πρέπει να αγνοεί το μοντέλο και σε ποιες πρέπει να αντιδρά προβλέψιμα.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Το πρόβλημα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650" y="2697983"/>
            <a:ext cx="5150660" cy="193751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εφ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ρμογή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ανα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λλοιότητ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και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equivariance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ροϋ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οθέτει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κατα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γράψουμε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χειροκίνητ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κάθε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φυσικό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σχημ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τισμό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ράδειγμ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ότι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ο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φωτισμός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λλάζει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τάστ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ενώ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τό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κάμερ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λλάζει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συντετ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γμένες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θέσης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Αυτή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γνώση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κόσμο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τεράστι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και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άνθρω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δυσκολεύοντ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να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εξωτερικεύσουν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λήρως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οπ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ότε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χειροκίνητη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ρίθμηση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όλων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νόνων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γίνετ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πρα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κτικά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νέφικτη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Η πρόταση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492" y="2575964"/>
            <a:ext cx="5161098" cy="218155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Χρησιμο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οιούμε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LLM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υτομ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οιημένο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σύμ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ουλο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φυσικής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ροτείνει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υπ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οψήφι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ρότυ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μικής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σχέσεις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συμμετρί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απα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ντώντ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ερωτήμ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ατα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τύ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ιδιότητες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μένουν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θερές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αν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λλάζει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ο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φωτισμός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ροτάσεις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εφ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ρμόζοντ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τυφλά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.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Πρώτα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επα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ληθεύουμε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νοιχτά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δεδομέν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και έπ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τρέ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ρογρ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τιστικά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συγκεκριμένους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σχημ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τισμούς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άνω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δεδομέν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εκ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ίδευσης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 (data augmentation).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11201400" cy="107899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248656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Πιθανά κέρδη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5276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1F1F"/>
                </a:solidFill>
                <a:latin typeface="Calibri"/>
              </a:rPr>
              <a:t>Πλουσιότερη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και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υτομ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οιημένη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κάλυψη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φυσικών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νόνων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λιγότερη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χειροκίνητη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δουλειά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και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ιο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af-ZA" sz="1300" dirty="0">
                <a:solidFill>
                  <a:srgbClr val="1F1F1F"/>
                </a:solidFill>
                <a:latin typeface="Calibri"/>
              </a:rPr>
              <a:t>robust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invariant και equivariant αναπαρα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στάσεις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ΕΠΕΚΤΑΣΗ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Φυσικά ευθυγραμμισμένη πολυτροπικότητα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14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 i="0" dirty="0" err="1">
                <a:solidFill>
                  <a:srgbClr val="33363D"/>
                </a:solidFill>
                <a:latin typeface="Calibri"/>
              </a:rPr>
              <a:t>Στόχος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lang="af-ZA" sz="140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lang="af-ZA" sz="1400" dirty="0">
                <a:solidFill>
                  <a:srgbClr val="33363D"/>
                </a:solidFill>
                <a:latin typeface="Calibri"/>
              </a:rPr>
              <a:t> fusion raw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ληροφορί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ας από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φορετικές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ηγές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 πα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ράδειγμ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κάμερ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 και LiDAR,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ενι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ίο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και π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ιο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400" dirty="0">
                <a:solidFill>
                  <a:srgbClr val="33363D"/>
                </a:solidFill>
                <a:latin typeface="Calibri"/>
              </a:rPr>
              <a:t>robust </a:t>
            </a:r>
            <a:r>
              <a:rPr lang="el-GR" sz="1400" dirty="0">
                <a:solidFill>
                  <a:srgbClr val="33363D"/>
                </a:solidFill>
                <a:latin typeface="Calibri"/>
              </a:rPr>
              <a:t>latent space vector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Το πρόβλημα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97984"/>
            <a:ext cx="5129784" cy="193751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κλ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σική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λύση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τιμωρεί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λώς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όστ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νάμεσ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δύο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ερμηνεύσιμ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νύσμ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ατα. Επ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ειδή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όμως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κάμερ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λέ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χρώμ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και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υφή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ενώ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LiDAR 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λέ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γεωμετρί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α, ο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εξ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ανα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γκ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σμός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γίνουν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ίδι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ετάει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ολύτιμη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ληροφορί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</a:t>
            </a:r>
            <a:r>
              <a:rPr lang="el-GR" sz="1300" dirty="0">
                <a:latin typeface="Calibri"/>
              </a:rPr>
              <a:t>Α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καταρρεύσει ένας αισθητήρας (τυφλωθεί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κάμερ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),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ρρέει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ολόκληρο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σύστημ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επ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ειδή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ξέρει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κομμάτι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ληροφορί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χάλ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Η πρόταση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820004"/>
            <a:ext cx="5129784" cy="16934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ερμηνεύσιμο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300" dirty="0">
                <a:solidFill>
                  <a:srgbClr val="33363D"/>
                </a:solidFill>
                <a:latin typeface="Calibri"/>
              </a:rPr>
              <a:t>latent space ξέρουμε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στάσεις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ντιστοιχούν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θέση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και 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χύτητ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και επιβ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άλλουμε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ύτιση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μόνο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εκεί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φήνοντ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χρώμ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ή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υφή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τα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ορίζει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μόνο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κάμερ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Κάθε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ισθητήρ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φράζει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υτό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λέ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σε μια κοινή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αναπαράσταση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οπ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ότε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τηρεί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τα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λεονεκτήμ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ντί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τα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θυσιάζει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να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μοιάσει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στον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άλλον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11201400" cy="107899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248656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Πιθανά κέρδη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5276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 dirty="0">
                <a:solidFill>
                  <a:srgbClr val="1F1F1F"/>
                </a:solidFill>
                <a:latin typeface="Calibri"/>
              </a:rPr>
              <a:t>Πιο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λούσιο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και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νθεκτικό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θόρυ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βο </a:t>
            </a:r>
            <a:r>
              <a:rPr lang="af-ZA" sz="1300" dirty="0">
                <a:solidFill>
                  <a:srgbClr val="1F1F1F"/>
                </a:solidFill>
                <a:latin typeface="Calibri"/>
              </a:rPr>
              <a:t>latent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 space vector και 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ομαλή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χείριση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στοχί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ας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ενός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ισθητήρ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ΕΠΕΚΤΑΣΗ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Ερμηνεύσιμη ποσοτικοποίηση αβεβαιότητας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15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Μετατοπίζουμε την αβεβαιότητα από τα pixels και τον αφηρημένο λανθάνοντα χώρο στις ίδιες τις φυσικές μεταβλητές.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Το πρόβλημα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212" y="2903511"/>
            <a:ext cx="5098468" cy="16934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κλ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σικές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μέθοδοι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όπ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MC Dropout ή τα ensembles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εκφράζουν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αβεβα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ιότητ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είτε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θολές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εικόνες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είτε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κύμ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στάσεις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300" dirty="0">
                <a:solidFill>
                  <a:srgbClr val="33363D"/>
                </a:solidFill>
                <a:latin typeface="Calibri"/>
              </a:rPr>
              <a:t>latent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300" dirty="0">
                <a:solidFill>
                  <a:srgbClr val="33363D"/>
                </a:solidFill>
                <a:latin typeface="Calibri"/>
              </a:rPr>
              <a:t>space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 που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έχουν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σημ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Έτσι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ληροφορί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ξιο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οιήσιμη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.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300" dirty="0" err="1">
                <a:solidFill>
                  <a:srgbClr val="33363D"/>
                </a:solidFill>
                <a:latin typeface="Calibri"/>
              </a:rPr>
              <a:t>M</a:t>
            </a:r>
            <a:r>
              <a:rPr lang="el-GR" sz="1300" dirty="0" err="1">
                <a:solidFill>
                  <a:srgbClr val="33363D"/>
                </a:solidFill>
                <a:latin typeface="Calibri"/>
              </a:rPr>
              <a:t>ι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μεγάλη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κύμ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φηρημένο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slot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λέει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χρήσιμο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αν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ελεγκτή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ρέ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απ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οφ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σίσει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αν θα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φρενάρει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Η πρόταση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492" y="2902248"/>
            <a:ext cx="5108906" cy="120539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Αν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Αρχή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1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κάθε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διάστ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ντιστοιχεί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φυσικό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μέγεθος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κύμ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γίνετ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πρα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τική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αβεβα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ιότητ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θέσης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ή 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χύτητ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Κλ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σικοί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λγόριθμοι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όπ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ο MPC μπ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ορούν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επ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εξεργ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στούν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άμεσ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υτή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καθα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νομή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άνω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φυσικά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μεγέθη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11201400" cy="107899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248656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Πιθανά κέρδη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5276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i="0" dirty="0">
                <a:solidFill>
                  <a:srgbClr val="1F1F1F"/>
                </a:solidFill>
                <a:latin typeface="Calibri"/>
              </a:rPr>
              <a:t>Τεκμηριωμένες απ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οφάσεις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σφάλει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ας, π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ιο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εύρωστος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σχεδι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σμός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τροχιάς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και αβεβα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ιότητ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α κατα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νοητή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τόσο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από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τον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άνθρω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πο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όσο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 και από τα συστήματα </a:t>
            </a:r>
            <a:r>
              <a:rPr sz="1300" b="0" i="0" dirty="0" err="1">
                <a:solidFill>
                  <a:srgbClr val="1F1F1F"/>
                </a:solidFill>
                <a:latin typeface="Calibri"/>
              </a:rPr>
              <a:t>ελέγχου</a:t>
            </a:r>
            <a:r>
              <a:rPr sz="1300" b="0" i="0" dirty="0">
                <a:solidFill>
                  <a:srgbClr val="1F1F1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ΕΠΕΚΤΑΣΗ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Σύνδεση με κλασικό έλεγχο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16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ερμηνεύσιμο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af-ZA" sz="1400" dirty="0">
                <a:solidFill>
                  <a:srgbClr val="33363D"/>
                </a:solidFill>
                <a:latin typeface="Calibri"/>
              </a:rPr>
              <a:t>latent space </a:t>
            </a:r>
            <a:r>
              <a:rPr lang="el-GR" sz="1400" dirty="0">
                <a:solidFill>
                  <a:srgbClr val="33363D"/>
                </a:solidFill>
                <a:latin typeface="Calibri"/>
              </a:rPr>
              <a:t>επιτρέπει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δοκιμ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σμένους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ελεγκτές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, όπ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ως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ο PID και ο MPC, να 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ξιο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οιήσουν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βα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θιά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μάθηση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χωρίς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να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χάσουν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μα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θημ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τική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τους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400" b="0" i="0" dirty="0" err="1">
                <a:solidFill>
                  <a:srgbClr val="33363D"/>
                </a:solidFill>
                <a:latin typeface="Calibri"/>
              </a:rPr>
              <a:t>υστηρότητ</a:t>
            </a:r>
            <a:r>
              <a:rPr sz="1400" b="0" i="0" dirty="0">
                <a:solidFill>
                  <a:srgbClr val="33363D"/>
                </a:solidFill>
                <a:latin typeface="Calibri"/>
              </a:rPr>
              <a:t>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Το πρόβλημα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20004"/>
            <a:ext cx="5129784" cy="16934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ας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κλ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σικός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ελεγκτής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χρειάζετ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φυσικές ποσότητες 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οπ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ότε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μπ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ορεί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συνδεθεί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μοντέλο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δίνει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φηρημένους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ριθμούς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Επιπ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λέον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ο PID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ντιδρ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στικός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και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ρχίζει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διορθώνει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μόνο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φού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εμφ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νιστεί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σφάλμ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α,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κάτι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μπ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ορεί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ργά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κρίσιμες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στάσεις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Η πρόταση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41447"/>
            <a:ext cx="5129784" cy="2450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Ως εκτιμητής κατάστασης, ο encoder δίνει θέση και ταχύτητα στον PID που υπολογίζει την ενέργεια και αντιλαμβάνεται εξωτερικό θόρυβο όταν η πρόβλεψη διαφέρει από την πραγματικότητα.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63D"/>
                </a:solidFill>
                <a:latin typeface="Calibri"/>
              </a:rPr>
              <a:t>Ως ασπίδα ασφάλειας, το μοντέλο ονειρεύεται K βήματα μπροστά και ένας MPC δοκιμάζει πολλά σενάρια στον γρήγορο λανθάνοντα χώρο και επιλέγει το ασφαλέστερο.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11201400" cy="107899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248656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Πιθανά κέρδη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5276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 dirty="0">
                <a:solidFill>
                  <a:srgbClr val="1F1F1F"/>
                </a:solidFill>
                <a:latin typeface="Calibri"/>
              </a:rPr>
              <a:t>Προληπτικός αντί για αντιδραστικός έλεγχος, εγγυήσεις ασφάλειας πριν σταλεί η εντολή στους κινητήρες 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και πραγματικός συνδυασμός control</a:t>
            </a:r>
            <a:r>
              <a:rPr lang="af-ZA" sz="1300" dirty="0">
                <a:solidFill>
                  <a:srgbClr val="1F1F1F"/>
                </a:solidFill>
                <a:latin typeface="Calibri"/>
              </a:rPr>
              <a:t> principles</a:t>
            </a:r>
            <a:r>
              <a:rPr lang="el-GR"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l-GR" sz="1300">
                <a:solidFill>
                  <a:srgbClr val="1F1F1F"/>
                </a:solidFill>
                <a:latin typeface="Calibri"/>
              </a:rPr>
              <a:t>με μοντέλα μάθησης.</a:t>
            </a:r>
            <a:endParaRPr lang="el-G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ΕΠΕΚΤΑΣΗ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Ενιαίο pipeline εκπαίδευσης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17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Η Αρχή 3 συνδυάζει πλήρη, ασθενή και αυτο-επιβλεπόμενη πληροφορία, που πρέπει να ισορροπήσουν μέσα σε μία ενιαία εκπαίδευση.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Το πρόβλημα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20004"/>
            <a:ext cx="5129784" cy="16934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αν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όλ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τα losses μπα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ίνουν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μα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ζί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συνάρτηση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φορετικοί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στόχοι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συγκρούοντ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.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Η 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ικ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οίηση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ενός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σθενούς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εριορισμού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μπ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ορεί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να κατα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στρέψει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γνώση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από τα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λήρη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δεδομέν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οτέλεσμ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είν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στάθει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και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συχνά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σύγκλιση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ενώ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η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χειροκίνητη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ίρεση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εκ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ίδευσης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στάδι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είναι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επίπ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ονη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εύθρ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υστη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532120" cy="315468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Η πρόταση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492" y="2825222"/>
            <a:ext cx="5088030" cy="16934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Προτείνετ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αι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υτομ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οιημένο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pipeline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ου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τεχνικές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multi task learning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ρυθμίζει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δυν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μικά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τα 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άρη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losses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κάθε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ήμ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εκ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ίδευσης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30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Στην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ρχή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δίνει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έμφ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λήρη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δεδομέν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 και, κα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θώς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μοντέλο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ωριμάζει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,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υξάνει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στ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δι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κά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άρος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σθενέστερων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 και α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υτο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-επιβ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λε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300" b="0" i="0" dirty="0" err="1">
                <a:solidFill>
                  <a:srgbClr val="33363D"/>
                </a:solidFill>
                <a:latin typeface="Calibri"/>
              </a:rPr>
              <a:t>όμενων</a:t>
            </a:r>
            <a:r>
              <a:rPr lang="el-GR" sz="1300" dirty="0">
                <a:solidFill>
                  <a:srgbClr val="33363D"/>
                </a:solidFill>
                <a:latin typeface="Calibri"/>
              </a:rPr>
              <a:t> δεδομένων</a:t>
            </a:r>
            <a:r>
              <a:rPr sz="1300" b="0" i="0" dirty="0">
                <a:solidFill>
                  <a:srgbClr val="33363D"/>
                </a:solidFill>
                <a:latin typeface="Calibri"/>
              </a:rPr>
              <a:t>.</a:t>
            </a:r>
            <a:endParaRPr sz="130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11201400" cy="1078992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248656"/>
            <a:ext cx="10652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Πιθανά κέρδη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52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Ομαλή και end to end εκπαίδευση αντί για απότομα στάδια, μεγαλύτερη σταθερότητα και σύγκλιση, και αξιοποίηση ακόμη και των πιο αδύναμων σημάτων επίβλεψης.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ΕΠΕΚΤΑΣΕΙΣ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Γενικές επεκτάσεις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18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Επιπλέον κατευθύνσεις που μπορούμε να δοκιμάσουμε πάνω στο ίδιο πλαίσιο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381" y="1275567"/>
            <a:ext cx="10972800" cy="443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Νέα δεδομένα: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εφαρμογή του μοντέλου σε επιπλέον περιβάλλοντα και σύνολα δεδομένων πέρα από τα δύο benchmarks.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Σύγχρονες αρχιτεκτονικές: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αντικατάσταση του VAE και του LSTM με πιο πρόσφατες προσεγγίσεις, όπως προτείνει και το ίδιο το άρθρο.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Interaction encoder: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υλοποίηση με GNNs του κλάδου αλληλεπιδράσεων, που φαίνεται να μην έχει υλοποιηθεί από τους ερευνητές.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550" b="1" i="0">
                <a:solidFill>
                  <a:srgbClr val="C9A227"/>
                </a:solidFill>
                <a:latin typeface="Calibri"/>
              </a:rPr>
              <a:t>•   </a:t>
            </a:r>
            <a:r>
              <a:rPr sz="1550" b="1" i="0">
                <a:solidFill>
                  <a:srgbClr val="0F244F"/>
                </a:solidFill>
                <a:latin typeface="Calibri"/>
              </a:rPr>
              <a:t>Αποδοτικότητα του RL: </a:t>
            </a:r>
            <a:r>
              <a:rPr sz="1550" b="0" i="0">
                <a:solidFill>
                  <a:srgbClr val="33363D"/>
                </a:solidFill>
                <a:latin typeface="Calibri"/>
              </a:rPr>
              <a:t>η φυσική αναπαράσταση περιορίζει τον χώρο αναζήτησης σε φυσικά εφικτές λύσεις και βελτιώνει τη δειγματοληπτική αποδοτικότητα.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ΠΟΡΟΙ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Υπολογιστικοί πόροι και περιορισμοί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19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Όλη η μελέτη στηρίζεται σε ελεύθερα διαθέσιμους πόρους, κάτι που καθορίζει το εύρος των πειραμάτων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3429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Τι χρησιμοποιούμε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88748"/>
            <a:ext cx="5129784" cy="183030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Kaggle: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δωρεάν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notebooks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με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GPU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την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εκ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ίδευση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Google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Colab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λλ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κτικό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ερι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β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άλλον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ικοί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υπ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ολογιστές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γι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νά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τυξη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και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δοκιμές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PyTorch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framework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υλο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π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οίησης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όλων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μοντέλων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Δι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α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χείριση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0F244F"/>
                </a:solidFill>
                <a:latin typeface="Calibri"/>
              </a:rPr>
              <a:t>μνήμης</a:t>
            </a:r>
            <a:r>
              <a:rPr sz="1250" b="1" i="0" dirty="0">
                <a:solidFill>
                  <a:srgbClr val="0F244F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μικρές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εικόνες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μικρά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μοντέλ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 και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τμημ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α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τική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φόρτωση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των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3363D"/>
                </a:solidFill>
                <a:latin typeface="Calibri"/>
              </a:rPr>
              <a:t>δεδομένων</a:t>
            </a:r>
            <a:r>
              <a:rPr sz="1250" b="0" i="0" dirty="0">
                <a:solidFill>
                  <a:srgbClr val="33363D"/>
                </a:solidFill>
                <a:latin typeface="Calibri"/>
              </a:rPr>
              <a:t>.</a:t>
            </a:r>
            <a:endParaRPr sz="1250" b="0" i="0" dirty="0">
              <a:solidFill>
                <a:srgbClr val="333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532120" cy="3429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9383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Πώς μας περιορίζουν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41447"/>
            <a:ext cx="5129784" cy="2724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0F244F"/>
                </a:solidFill>
                <a:latin typeface="Calibri"/>
              </a:rPr>
              <a:t>Δύο περιβάλλοντα: </a:t>
            </a:r>
            <a:r>
              <a:rPr sz="1250" b="0" i="0">
                <a:solidFill>
                  <a:srgbClr val="33363D"/>
                </a:solidFill>
                <a:latin typeface="Calibri"/>
              </a:rPr>
              <a:t>γίνεται δύσκολη η εκτενής επέκταση ταυτόχρονα στο Cart Pole και στο Lunar Lander.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0F244F"/>
                </a:solidFill>
                <a:latin typeface="Calibri"/>
              </a:rPr>
              <a:t>Μήκος επεισοδίων: </a:t>
            </a:r>
            <a:r>
              <a:rPr sz="1250" b="0" i="0">
                <a:solidFill>
                  <a:srgbClr val="33363D"/>
                </a:solidFill>
                <a:latin typeface="Calibri"/>
              </a:rPr>
              <a:t>δύσκολη η εκπαίδευση σε πολλά επεισόδια με ικανοποιητική διάρκεια το καθένα.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0F244F"/>
                </a:solidFill>
                <a:latin typeface="Calibri"/>
              </a:rPr>
              <a:t>Κλίμακα: </a:t>
            </a:r>
            <a:r>
              <a:rPr sz="1250" b="0" i="0">
                <a:solidFill>
                  <a:srgbClr val="33363D"/>
                </a:solidFill>
                <a:latin typeface="Calibri"/>
              </a:rPr>
              <a:t>αναγκαζόμαστε να κρατήσουμε μικρή την ανάλυση και το μέγεθος των μοντέλων.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ΔΕΔΟΜΕΝΑ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Τα δύο περιβάλλοντα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20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63D"/>
                </a:solidFill>
                <a:latin typeface="Calibri"/>
              </a:rPr>
              <a:t>Παράγουμε εμείς τα δεδομένα, προσομοιώνοντας επεισόδια στο OpenAI Gym και καταγράφοντας εικόνες, ενέργειες και καταστάσεις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532120" cy="41148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9384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Cart Pole</a:t>
            </a:r>
          </a:p>
        </p:txBody>
      </p:sp>
      <p:pic>
        <p:nvPicPr>
          <p:cNvPr id="13" name="Picture 12" descr="cartpole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468880"/>
            <a:ext cx="3154680" cy="2103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709160"/>
            <a:ext cx="5166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363D"/>
                </a:solidFill>
                <a:latin typeface="Calibri"/>
              </a:rPr>
              <a:t>Διάνυσμα κατάστασης με τέσσερις μεταβλητές: θέση και ταχύτητα του κάρου, γωνία και γωνιακή ταχύτητα της ράβδου.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532120" cy="41148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874519"/>
            <a:ext cx="5532120" cy="45720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929384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Lunar Lander</a:t>
            </a:r>
          </a:p>
        </p:txBody>
      </p:sp>
      <p:pic>
        <p:nvPicPr>
          <p:cNvPr id="18" name="Picture 17" descr="lunarlander_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68880"/>
            <a:ext cx="3154680" cy="2103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55080" y="4709160"/>
            <a:ext cx="5166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363D"/>
                </a:solidFill>
                <a:latin typeface="Calibri"/>
              </a:rPr>
              <a:t>Διάνυσμα κατάστασης με οκτώ μεταβλητές: θέση και ταχύτητες, γωνία και γωνιακή ταχύτητα, και δύο ενδείξεις επαφής των ποδιών.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ΟΜΑΔΑ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Κατανομή ρόλων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270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33363D"/>
                </a:solidFill>
                <a:latin typeface="Calibri"/>
              </a:rPr>
              <a:t>ΕΜΠ  ·  Σχολή ΗΜΜΥ  ·  Φυσικά Ερμηνεύσιμα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F244F"/>
                </a:solidFill>
                <a:latin typeface="Calibri"/>
              </a:rPr>
              <a:t>21 / 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21089"/>
              </p:ext>
            </p:extLst>
          </p:nvPr>
        </p:nvGraphicFramePr>
        <p:xfrm>
          <a:off x="640080" y="17830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Μέλος</a:t>
                      </a:r>
                    </a:p>
                  </a:txBody>
                  <a:tcPr marL="137160" marR="109728" marT="64008" marB="64008" anchor="ctr">
                    <a:solidFill>
                      <a:srgbClr val="0F24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Ρόλος</a:t>
                      </a:r>
                    </a:p>
                  </a:txBody>
                  <a:tcPr marL="137160" marR="109728" marT="64008" marB="64008" anchor="ctr">
                    <a:solidFill>
                      <a:srgbClr val="0F2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en-US" sz="1300" b="1" i="0" u="none" strike="noStrike" noProof="0" dirty="0" err="1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Πλούμης</a:t>
                      </a:r>
                      <a:r>
                        <a:rPr lang="en-US" sz="1300" b="1" i="0" u="none" strike="noStrike" noProof="0" dirty="0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1" i="0" u="none" strike="noStrike" noProof="0" dirty="0" err="1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Φίλι</a:t>
                      </a:r>
                      <a:r>
                        <a:rPr lang="en-US" sz="1300" b="1" i="0" u="none" strike="noStrike" noProof="0" dirty="0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ππ</a:t>
                      </a:r>
                      <a:r>
                        <a:rPr lang="en-US" sz="1300" b="1" i="0" u="none" strike="noStrike" noProof="0" dirty="0" err="1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ος</a:t>
                      </a:r>
                      <a:endParaRPr sz="1300" b="1" i="0" dirty="0" err="1">
                        <a:solidFill>
                          <a:srgbClr val="33363D"/>
                        </a:solidFill>
                        <a:latin typeface="Calibri"/>
                      </a:endParaRPr>
                    </a:p>
                  </a:txBody>
                  <a:tcPr marL="137160" marR="109728" marT="64008" marB="6400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Συλλογή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δεδομένων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και pipeline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μετ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φοράς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τους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στ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μοντέλ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 marL="137160" marR="109728" marT="64008" marB="6400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Ρήγ</a:t>
                      </a:r>
                      <a:r>
                        <a:rPr sz="1300" b="1" i="0" dirty="0">
                          <a:solidFill>
                            <a:srgbClr val="33363D"/>
                          </a:solidFill>
                          <a:latin typeface="Calibri"/>
                        </a:rPr>
                        <a:t>ας </a:t>
                      </a:r>
                      <a:r>
                        <a:rPr sz="1300" b="1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Αθ</a:t>
                      </a:r>
                      <a:r>
                        <a:rPr sz="1300" b="1" i="0" dirty="0">
                          <a:solidFill>
                            <a:srgbClr val="33363D"/>
                          </a:solidFill>
                          <a:latin typeface="Calibri"/>
                        </a:rPr>
                        <a:t>α</a:t>
                      </a:r>
                      <a:r>
                        <a:rPr sz="1300" b="1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νάσιος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Αρχιτεκτονικές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VAE και LSTM</a:t>
                      </a:r>
                      <a:r>
                        <a:rPr lang="el-GR"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,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στήσιμο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του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καθα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ρού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lang="af-ZA"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baseline και εκτέλεση πειραμάτων</a:t>
                      </a:r>
                      <a:endParaRPr sz="1300" b="0" i="0" dirty="0">
                        <a:solidFill>
                          <a:srgbClr val="33363D"/>
                        </a:solidFill>
                        <a:latin typeface="Calibri"/>
                      </a:endParaRP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33363D"/>
                          </a:solidFill>
                          <a:latin typeface="Calibri"/>
                        </a:rPr>
                        <a:t>Μπα</a:t>
                      </a:r>
                      <a:r>
                        <a:rPr sz="1300" b="1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κογιώργος</a:t>
                      </a:r>
                      <a:r>
                        <a:rPr sz="1300" b="1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Ηλί</a:t>
                      </a:r>
                      <a:r>
                        <a:rPr sz="1300" b="1" i="0" dirty="0">
                          <a:solidFill>
                            <a:srgbClr val="33363D"/>
                          </a:solidFill>
                          <a:latin typeface="Calibri"/>
                        </a:rPr>
                        <a:t>ας</a:t>
                      </a:r>
                    </a:p>
                  </a:txBody>
                  <a:tcPr marL="137160" marR="109728" marT="64008" marB="6400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Αρχή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1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γι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την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οργάνωση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του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lang="af-ZA"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latent space 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και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Αρχή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2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γι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 </a:t>
                      </a:r>
                      <a:r>
                        <a:rPr lang="af-ZA"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invariance/equivariance</a:t>
                      </a:r>
                      <a:endParaRPr sz="1300" b="0" i="0" dirty="0">
                        <a:solidFill>
                          <a:srgbClr val="33363D"/>
                        </a:solidFill>
                        <a:latin typeface="Calibri"/>
                      </a:endParaRPr>
                    </a:p>
                  </a:txBody>
                  <a:tcPr marL="137160" marR="109728" marT="64008" marB="6400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1" i="0" u="none" strike="noStrike" noProof="0" dirty="0" err="1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Φειδάκης</a:t>
                      </a:r>
                      <a:r>
                        <a:rPr lang="en-US" sz="1300" b="1" i="0" u="none" strike="noStrike" noProof="0" dirty="0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1" i="0" u="none" strike="noStrike" noProof="0" dirty="0" err="1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Αθ</a:t>
                      </a:r>
                      <a:r>
                        <a:rPr lang="en-US" sz="1300" b="1" i="0" u="none" strike="noStrike" noProof="0" dirty="0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α</a:t>
                      </a:r>
                      <a:r>
                        <a:rPr lang="en-US" sz="1300" b="1" i="0" u="none" strike="noStrike" noProof="0" dirty="0" err="1">
                          <a:solidFill>
                            <a:srgbClr val="33363D"/>
                          </a:solidFill>
                          <a:latin typeface="Calibri"/>
                          <a:ea typeface="Calibri"/>
                          <a:cs typeface="Calibri"/>
                        </a:rPr>
                        <a:t>νάσιος</a:t>
                      </a:r>
                      <a:endParaRPr dirty="0" err="1"/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Αρχή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3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γι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την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επίβ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λεψη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και Αρχή 4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γι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τη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δι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α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μέριση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, μα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ζί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με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την</a:t>
                      </a:r>
                      <a:r>
                        <a:rPr sz="1300" b="0" i="0" dirty="0">
                          <a:solidFill>
                            <a:srgbClr val="33363D"/>
                          </a:solidFill>
                          <a:latin typeface="Calibri"/>
                        </a:rPr>
                        <a:t> α</a:t>
                      </a:r>
                      <a:r>
                        <a:rPr sz="1300" b="0" i="0" dirty="0" err="1">
                          <a:solidFill>
                            <a:srgbClr val="33363D"/>
                          </a:solidFill>
                          <a:latin typeface="Calibri"/>
                        </a:rPr>
                        <a:t>ξιολόγηση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212080"/>
            <a:ext cx="10972800" cy="960120"/>
          </a:xfrm>
          <a:prstGeom prst="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F244F"/>
                </a:solidFill>
                <a:latin typeface="Calibri"/>
              </a:rPr>
              <a:t>Κοινά στάδια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32704"/>
            <a:ext cx="104241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Όλα τα μέλη συμμετέχουν στη μελέτη του άρθρου, στη διερεύνηση των επεκτάσεων και στη συγγραφή της τελικής αναφοράς.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Ευρεία οθόνη</PresentationFormat>
  <Paragraphs>0</Paragraphs>
  <Slides>21</Slides>
  <Notes>16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21</vt:i4>
      </vt:variant>
    </vt:vector>
  </HeadingPairs>
  <TitlesOfParts>
    <vt:vector size="22" baseType="lpstr"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197</cp:revision>
  <dcterms:created xsi:type="dcterms:W3CDTF">2013-01-27T09:14:16Z</dcterms:created>
  <dcterms:modified xsi:type="dcterms:W3CDTF">2026-06-03T16:07:36Z</dcterms:modified>
  <cp:category/>
</cp:coreProperties>
</file>